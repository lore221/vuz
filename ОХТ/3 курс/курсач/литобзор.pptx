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8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66" r:id="rId5"/>
    <p:sldId id="259" r:id="rId6"/>
    <p:sldId id="260" r:id="rId7"/>
    <p:sldId id="261" r:id="rId8"/>
    <p:sldId id="262" r:id="rId9"/>
    <p:sldId id="265" r:id="rId10"/>
    <p:sldId id="267" r:id="rId11"/>
    <p:sldId id="268" r:id="rId12"/>
  </p:sldIdLst>
  <p:sldSz cx="18300700" cy="10299700"/>
  <p:notesSz cx="18300700" cy="10299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2552" y="3192907"/>
            <a:ext cx="15555595" cy="2162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5105" y="5767832"/>
            <a:ext cx="12810490" cy="2574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5035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24860" y="2368931"/>
            <a:ext cx="7960804" cy="67978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69317" y="0"/>
            <a:ext cx="548594" cy="1029004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0226" y="0"/>
            <a:ext cx="438875" cy="1029004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1391" y="0"/>
            <a:ext cx="393159" cy="102900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18553" y="0"/>
            <a:ext cx="429732" cy="1029004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30573" y="0"/>
            <a:ext cx="411445" cy="1029004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63251" y="0"/>
            <a:ext cx="438875" cy="1029004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011847" y="0"/>
            <a:ext cx="402302" cy="1029004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487293" y="0"/>
            <a:ext cx="374872" cy="10290049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325085" y="0"/>
            <a:ext cx="438875" cy="10290049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4809344" y="758839"/>
            <a:ext cx="516890" cy="475615"/>
          </a:xfrm>
          <a:custGeom>
            <a:avLst/>
            <a:gdLst/>
            <a:ahLst/>
            <a:cxnLst/>
            <a:rect l="l" t="t" r="r" b="b"/>
            <a:pathLst>
              <a:path w="516889" h="475615">
                <a:moveTo>
                  <a:pt x="516636" y="475488"/>
                </a:moveTo>
                <a:lnTo>
                  <a:pt x="0" y="475488"/>
                </a:lnTo>
                <a:lnTo>
                  <a:pt x="0" y="0"/>
                </a:lnTo>
                <a:lnTo>
                  <a:pt x="516636" y="0"/>
                </a:lnTo>
                <a:lnTo>
                  <a:pt x="516636" y="475488"/>
                </a:lnTo>
                <a:close/>
              </a:path>
            </a:pathLst>
          </a:custGeom>
          <a:solidFill>
            <a:srgbClr val="18181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76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1304" y="3849624"/>
            <a:ext cx="3727704" cy="183184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258592" y="4281119"/>
            <a:ext cx="1736089" cy="229235"/>
          </a:xfrm>
          <a:custGeom>
            <a:avLst/>
            <a:gdLst/>
            <a:ahLst/>
            <a:cxnLst/>
            <a:rect l="l" t="t" r="r" b="b"/>
            <a:pathLst>
              <a:path w="1736090" h="229235">
                <a:moveTo>
                  <a:pt x="39103" y="54495"/>
                </a:moveTo>
                <a:lnTo>
                  <a:pt x="76" y="54495"/>
                </a:lnTo>
                <a:lnTo>
                  <a:pt x="64757" y="140576"/>
                </a:lnTo>
                <a:lnTo>
                  <a:pt x="0" y="225780"/>
                </a:lnTo>
                <a:lnTo>
                  <a:pt x="39408" y="225780"/>
                </a:lnTo>
                <a:lnTo>
                  <a:pt x="84912" y="164947"/>
                </a:lnTo>
                <a:lnTo>
                  <a:pt x="123377" y="164947"/>
                </a:lnTo>
                <a:lnTo>
                  <a:pt x="104749" y="140576"/>
                </a:lnTo>
                <a:lnTo>
                  <a:pt x="123579" y="115658"/>
                </a:lnTo>
                <a:lnTo>
                  <a:pt x="84899" y="115658"/>
                </a:lnTo>
                <a:lnTo>
                  <a:pt x="39103" y="54495"/>
                </a:lnTo>
                <a:close/>
              </a:path>
              <a:path w="1736090" h="229235">
                <a:moveTo>
                  <a:pt x="123377" y="164947"/>
                </a:moveTo>
                <a:lnTo>
                  <a:pt x="84912" y="164947"/>
                </a:lnTo>
                <a:lnTo>
                  <a:pt x="130479" y="225780"/>
                </a:lnTo>
                <a:lnTo>
                  <a:pt x="169875" y="225780"/>
                </a:lnTo>
                <a:lnTo>
                  <a:pt x="123377" y="164947"/>
                </a:lnTo>
                <a:close/>
              </a:path>
              <a:path w="1736090" h="229235">
                <a:moveTo>
                  <a:pt x="169799" y="54495"/>
                </a:moveTo>
                <a:lnTo>
                  <a:pt x="130479" y="54495"/>
                </a:lnTo>
                <a:lnTo>
                  <a:pt x="84899" y="115658"/>
                </a:lnTo>
                <a:lnTo>
                  <a:pt x="123579" y="115658"/>
                </a:lnTo>
                <a:lnTo>
                  <a:pt x="169799" y="54495"/>
                </a:lnTo>
                <a:close/>
              </a:path>
              <a:path w="1736090" h="229235">
                <a:moveTo>
                  <a:pt x="211239" y="54787"/>
                </a:moveTo>
                <a:lnTo>
                  <a:pt x="177863" y="54787"/>
                </a:lnTo>
                <a:lnTo>
                  <a:pt x="177863" y="225780"/>
                </a:lnTo>
                <a:lnTo>
                  <a:pt x="207441" y="225780"/>
                </a:lnTo>
                <a:lnTo>
                  <a:pt x="247107" y="172250"/>
                </a:lnTo>
                <a:lnTo>
                  <a:pt x="211239" y="172250"/>
                </a:lnTo>
                <a:lnTo>
                  <a:pt x="211239" y="54787"/>
                </a:lnTo>
                <a:close/>
              </a:path>
              <a:path w="1736090" h="229235">
                <a:moveTo>
                  <a:pt x="326326" y="110401"/>
                </a:moveTo>
                <a:lnTo>
                  <a:pt x="292938" y="110401"/>
                </a:lnTo>
                <a:lnTo>
                  <a:pt x="292938" y="225780"/>
                </a:lnTo>
                <a:lnTo>
                  <a:pt x="326326" y="225780"/>
                </a:lnTo>
                <a:lnTo>
                  <a:pt x="326326" y="110401"/>
                </a:lnTo>
                <a:close/>
              </a:path>
              <a:path w="1736090" h="229235">
                <a:moveTo>
                  <a:pt x="326326" y="54495"/>
                </a:moveTo>
                <a:lnTo>
                  <a:pt x="298221" y="54495"/>
                </a:lnTo>
                <a:lnTo>
                  <a:pt x="211239" y="172250"/>
                </a:lnTo>
                <a:lnTo>
                  <a:pt x="247107" y="172250"/>
                </a:lnTo>
                <a:lnTo>
                  <a:pt x="292938" y="110401"/>
                </a:lnTo>
                <a:lnTo>
                  <a:pt x="326326" y="110401"/>
                </a:lnTo>
                <a:lnTo>
                  <a:pt x="326326" y="54495"/>
                </a:lnTo>
                <a:close/>
              </a:path>
              <a:path w="1736090" h="229235">
                <a:moveTo>
                  <a:pt x="390029" y="54495"/>
                </a:moveTo>
                <a:lnTo>
                  <a:pt x="358736" y="54495"/>
                </a:lnTo>
                <a:lnTo>
                  <a:pt x="358736" y="225780"/>
                </a:lnTo>
                <a:lnTo>
                  <a:pt x="391147" y="225780"/>
                </a:lnTo>
                <a:lnTo>
                  <a:pt x="391147" y="115227"/>
                </a:lnTo>
                <a:lnTo>
                  <a:pt x="425066" y="115227"/>
                </a:lnTo>
                <a:lnTo>
                  <a:pt x="390029" y="54495"/>
                </a:lnTo>
                <a:close/>
              </a:path>
              <a:path w="1736090" h="229235">
                <a:moveTo>
                  <a:pt x="539457" y="115455"/>
                </a:moveTo>
                <a:lnTo>
                  <a:pt x="507047" y="115455"/>
                </a:lnTo>
                <a:lnTo>
                  <a:pt x="507047" y="225780"/>
                </a:lnTo>
                <a:lnTo>
                  <a:pt x="539457" y="225780"/>
                </a:lnTo>
                <a:lnTo>
                  <a:pt x="539457" y="115455"/>
                </a:lnTo>
                <a:close/>
              </a:path>
              <a:path w="1736090" h="229235">
                <a:moveTo>
                  <a:pt x="425066" y="115227"/>
                </a:moveTo>
                <a:lnTo>
                  <a:pt x="391147" y="115227"/>
                </a:lnTo>
                <a:lnTo>
                  <a:pt x="439102" y="197459"/>
                </a:lnTo>
                <a:lnTo>
                  <a:pt x="459765" y="197459"/>
                </a:lnTo>
                <a:lnTo>
                  <a:pt x="482831" y="157454"/>
                </a:lnTo>
                <a:lnTo>
                  <a:pt x="449427" y="157454"/>
                </a:lnTo>
                <a:lnTo>
                  <a:pt x="425066" y="115227"/>
                </a:lnTo>
                <a:close/>
              </a:path>
              <a:path w="1736090" h="229235">
                <a:moveTo>
                  <a:pt x="539457" y="54495"/>
                </a:moveTo>
                <a:lnTo>
                  <a:pt x="509130" y="54495"/>
                </a:lnTo>
                <a:lnTo>
                  <a:pt x="449427" y="157454"/>
                </a:lnTo>
                <a:lnTo>
                  <a:pt x="482831" y="157454"/>
                </a:lnTo>
                <a:lnTo>
                  <a:pt x="507047" y="115455"/>
                </a:lnTo>
                <a:lnTo>
                  <a:pt x="539457" y="115455"/>
                </a:lnTo>
                <a:lnTo>
                  <a:pt x="539457" y="54495"/>
                </a:lnTo>
                <a:close/>
              </a:path>
              <a:path w="1736090" h="229235">
                <a:moveTo>
                  <a:pt x="605574" y="54787"/>
                </a:moveTo>
                <a:lnTo>
                  <a:pt x="572185" y="54787"/>
                </a:lnTo>
                <a:lnTo>
                  <a:pt x="572185" y="225780"/>
                </a:lnTo>
                <a:lnTo>
                  <a:pt x="601776" y="225780"/>
                </a:lnTo>
                <a:lnTo>
                  <a:pt x="641443" y="172250"/>
                </a:lnTo>
                <a:lnTo>
                  <a:pt x="605574" y="172250"/>
                </a:lnTo>
                <a:lnTo>
                  <a:pt x="605574" y="54787"/>
                </a:lnTo>
                <a:close/>
              </a:path>
              <a:path w="1736090" h="229235">
                <a:moveTo>
                  <a:pt x="720661" y="110401"/>
                </a:moveTo>
                <a:lnTo>
                  <a:pt x="687273" y="110401"/>
                </a:lnTo>
                <a:lnTo>
                  <a:pt x="687273" y="225780"/>
                </a:lnTo>
                <a:lnTo>
                  <a:pt x="720661" y="225780"/>
                </a:lnTo>
                <a:lnTo>
                  <a:pt x="720661" y="110401"/>
                </a:lnTo>
                <a:close/>
              </a:path>
              <a:path w="1736090" h="229235">
                <a:moveTo>
                  <a:pt x="720661" y="54495"/>
                </a:moveTo>
                <a:lnTo>
                  <a:pt x="692556" y="54495"/>
                </a:lnTo>
                <a:lnTo>
                  <a:pt x="605574" y="172250"/>
                </a:lnTo>
                <a:lnTo>
                  <a:pt x="641443" y="172250"/>
                </a:lnTo>
                <a:lnTo>
                  <a:pt x="687273" y="110401"/>
                </a:lnTo>
                <a:lnTo>
                  <a:pt x="720661" y="110401"/>
                </a:lnTo>
                <a:lnTo>
                  <a:pt x="720661" y="54495"/>
                </a:lnTo>
                <a:close/>
              </a:path>
              <a:path w="1736090" h="229235">
                <a:moveTo>
                  <a:pt x="877443" y="163029"/>
                </a:moveTo>
                <a:lnTo>
                  <a:pt x="844130" y="163029"/>
                </a:lnTo>
                <a:lnTo>
                  <a:pt x="844130" y="225780"/>
                </a:lnTo>
                <a:lnTo>
                  <a:pt x="877443" y="225780"/>
                </a:lnTo>
                <a:lnTo>
                  <a:pt x="877443" y="163029"/>
                </a:lnTo>
                <a:close/>
              </a:path>
              <a:path w="1736090" h="229235">
                <a:moveTo>
                  <a:pt x="781532" y="54495"/>
                </a:moveTo>
                <a:lnTo>
                  <a:pt x="748233" y="54495"/>
                </a:lnTo>
                <a:lnTo>
                  <a:pt x="748233" y="107721"/>
                </a:lnTo>
                <a:lnTo>
                  <a:pt x="763320" y="153289"/>
                </a:lnTo>
                <a:lnTo>
                  <a:pt x="807186" y="168529"/>
                </a:lnTo>
                <a:lnTo>
                  <a:pt x="815759" y="168529"/>
                </a:lnTo>
                <a:lnTo>
                  <a:pt x="823810" y="167741"/>
                </a:lnTo>
                <a:lnTo>
                  <a:pt x="838923" y="164515"/>
                </a:lnTo>
                <a:lnTo>
                  <a:pt x="843191" y="163474"/>
                </a:lnTo>
                <a:lnTo>
                  <a:pt x="844130" y="163029"/>
                </a:lnTo>
                <a:lnTo>
                  <a:pt x="877443" y="163029"/>
                </a:lnTo>
                <a:lnTo>
                  <a:pt x="877443" y="139471"/>
                </a:lnTo>
                <a:lnTo>
                  <a:pt x="800900" y="139471"/>
                </a:lnTo>
                <a:lnTo>
                  <a:pt x="793115" y="136880"/>
                </a:lnTo>
                <a:lnTo>
                  <a:pt x="781532" y="104965"/>
                </a:lnTo>
                <a:lnTo>
                  <a:pt x="781532" y="54495"/>
                </a:lnTo>
                <a:close/>
              </a:path>
              <a:path w="1736090" h="229235">
                <a:moveTo>
                  <a:pt x="877443" y="54495"/>
                </a:moveTo>
                <a:lnTo>
                  <a:pt x="844130" y="54495"/>
                </a:lnTo>
                <a:lnTo>
                  <a:pt x="844130" y="133299"/>
                </a:lnTo>
                <a:lnTo>
                  <a:pt x="842302" y="134391"/>
                </a:lnTo>
                <a:lnTo>
                  <a:pt x="838085" y="135699"/>
                </a:lnTo>
                <a:lnTo>
                  <a:pt x="824953" y="138722"/>
                </a:lnTo>
                <a:lnTo>
                  <a:pt x="818388" y="139471"/>
                </a:lnTo>
                <a:lnTo>
                  <a:pt x="877443" y="139471"/>
                </a:lnTo>
                <a:lnTo>
                  <a:pt x="877443" y="54495"/>
                </a:lnTo>
                <a:close/>
              </a:path>
              <a:path w="1736090" h="229235">
                <a:moveTo>
                  <a:pt x="985050" y="51739"/>
                </a:moveTo>
                <a:lnTo>
                  <a:pt x="940968" y="63779"/>
                </a:lnTo>
                <a:lnTo>
                  <a:pt x="910488" y="95821"/>
                </a:lnTo>
                <a:lnTo>
                  <a:pt x="899553" y="139687"/>
                </a:lnTo>
                <a:lnTo>
                  <a:pt x="899949" y="148659"/>
                </a:lnTo>
                <a:lnTo>
                  <a:pt x="913557" y="189091"/>
                </a:lnTo>
                <a:lnTo>
                  <a:pt x="943464" y="217904"/>
                </a:lnTo>
                <a:lnTo>
                  <a:pt x="985354" y="228828"/>
                </a:lnTo>
                <a:lnTo>
                  <a:pt x="993553" y="228488"/>
                </a:lnTo>
                <a:lnTo>
                  <a:pt x="1030384" y="216819"/>
                </a:lnTo>
                <a:lnTo>
                  <a:pt x="1049133" y="200355"/>
                </a:lnTo>
                <a:lnTo>
                  <a:pt x="986243" y="200355"/>
                </a:lnTo>
                <a:lnTo>
                  <a:pt x="979618" y="199919"/>
                </a:lnTo>
                <a:lnTo>
                  <a:pt x="946359" y="180264"/>
                </a:lnTo>
                <a:lnTo>
                  <a:pt x="934427" y="153885"/>
                </a:lnTo>
                <a:lnTo>
                  <a:pt x="1068171" y="153885"/>
                </a:lnTo>
                <a:lnTo>
                  <a:pt x="1069314" y="149377"/>
                </a:lnTo>
                <a:lnTo>
                  <a:pt x="1069886" y="146253"/>
                </a:lnTo>
                <a:lnTo>
                  <a:pt x="1069886" y="139395"/>
                </a:lnTo>
                <a:lnTo>
                  <a:pt x="1069205" y="127843"/>
                </a:lnTo>
                <a:lnTo>
                  <a:pt x="1068936" y="126377"/>
                </a:lnTo>
                <a:lnTo>
                  <a:pt x="933678" y="126377"/>
                </a:lnTo>
                <a:lnTo>
                  <a:pt x="934072" y="120535"/>
                </a:lnTo>
                <a:lnTo>
                  <a:pt x="960145" y="87198"/>
                </a:lnTo>
                <a:lnTo>
                  <a:pt x="985354" y="80505"/>
                </a:lnTo>
                <a:lnTo>
                  <a:pt x="1048211" y="80505"/>
                </a:lnTo>
                <a:lnTo>
                  <a:pt x="1046199" y="78038"/>
                </a:lnTo>
                <a:lnTo>
                  <a:pt x="1008748" y="54787"/>
                </a:lnTo>
                <a:lnTo>
                  <a:pt x="997294" y="52501"/>
                </a:lnTo>
                <a:lnTo>
                  <a:pt x="985050" y="51739"/>
                </a:lnTo>
                <a:close/>
              </a:path>
              <a:path w="1736090" h="229235">
                <a:moveTo>
                  <a:pt x="1031290" y="170535"/>
                </a:moveTo>
                <a:lnTo>
                  <a:pt x="999592" y="198623"/>
                </a:lnTo>
                <a:lnTo>
                  <a:pt x="986243" y="200355"/>
                </a:lnTo>
                <a:lnTo>
                  <a:pt x="1049133" y="200355"/>
                </a:lnTo>
                <a:lnTo>
                  <a:pt x="1052666" y="195592"/>
                </a:lnTo>
                <a:lnTo>
                  <a:pt x="1057323" y="187691"/>
                </a:lnTo>
                <a:lnTo>
                  <a:pt x="1061631" y="178638"/>
                </a:lnTo>
                <a:lnTo>
                  <a:pt x="1031290" y="170535"/>
                </a:lnTo>
                <a:close/>
              </a:path>
              <a:path w="1736090" h="229235">
                <a:moveTo>
                  <a:pt x="1048211" y="80505"/>
                </a:moveTo>
                <a:lnTo>
                  <a:pt x="985354" y="80505"/>
                </a:lnTo>
                <a:lnTo>
                  <a:pt x="992125" y="80924"/>
                </a:lnTo>
                <a:lnTo>
                  <a:pt x="998605" y="82180"/>
                </a:lnTo>
                <a:lnTo>
                  <a:pt x="1029530" y="105714"/>
                </a:lnTo>
                <a:lnTo>
                  <a:pt x="1037323" y="126377"/>
                </a:lnTo>
                <a:lnTo>
                  <a:pt x="1068936" y="126377"/>
                </a:lnTo>
                <a:lnTo>
                  <a:pt x="1067166" y="116755"/>
                </a:lnTo>
                <a:lnTo>
                  <a:pt x="1063740" y="106063"/>
                </a:lnTo>
                <a:lnTo>
                  <a:pt x="1059027" y="95973"/>
                </a:lnTo>
                <a:lnTo>
                  <a:pt x="1053124" y="86527"/>
                </a:lnTo>
                <a:lnTo>
                  <a:pt x="1048211" y="80505"/>
                </a:lnTo>
                <a:close/>
              </a:path>
              <a:path w="1736090" h="229235">
                <a:moveTo>
                  <a:pt x="1164094" y="51739"/>
                </a:moveTo>
                <a:lnTo>
                  <a:pt x="1119339" y="63627"/>
                </a:lnTo>
                <a:lnTo>
                  <a:pt x="1089075" y="95529"/>
                </a:lnTo>
                <a:lnTo>
                  <a:pt x="1078306" y="139687"/>
                </a:lnTo>
                <a:lnTo>
                  <a:pt x="1078701" y="148526"/>
                </a:lnTo>
                <a:lnTo>
                  <a:pt x="1092333" y="188825"/>
                </a:lnTo>
                <a:lnTo>
                  <a:pt x="1122406" y="217866"/>
                </a:lnTo>
                <a:lnTo>
                  <a:pt x="1164386" y="228828"/>
                </a:lnTo>
                <a:lnTo>
                  <a:pt x="1172471" y="228488"/>
                </a:lnTo>
                <a:lnTo>
                  <a:pt x="1214651" y="212747"/>
                </a:lnTo>
                <a:lnTo>
                  <a:pt x="1228860" y="197904"/>
                </a:lnTo>
                <a:lnTo>
                  <a:pt x="1163497" y="197904"/>
                </a:lnTo>
                <a:lnTo>
                  <a:pt x="1156684" y="197425"/>
                </a:lnTo>
                <a:lnTo>
                  <a:pt x="1122923" y="175547"/>
                </a:lnTo>
                <a:lnTo>
                  <a:pt x="1111910" y="139687"/>
                </a:lnTo>
                <a:lnTo>
                  <a:pt x="1112346" y="131598"/>
                </a:lnTo>
                <a:lnTo>
                  <a:pt x="1131963" y="93947"/>
                </a:lnTo>
                <a:lnTo>
                  <a:pt x="1163205" y="82664"/>
                </a:lnTo>
                <a:lnTo>
                  <a:pt x="1227290" y="82664"/>
                </a:lnTo>
                <a:lnTo>
                  <a:pt x="1223697" y="77663"/>
                </a:lnTo>
                <a:lnTo>
                  <a:pt x="1186754" y="54529"/>
                </a:lnTo>
                <a:lnTo>
                  <a:pt x="1175765" y="52437"/>
                </a:lnTo>
                <a:lnTo>
                  <a:pt x="1164094" y="51739"/>
                </a:lnTo>
                <a:close/>
              </a:path>
              <a:path w="1736090" h="229235">
                <a:moveTo>
                  <a:pt x="1205725" y="169354"/>
                </a:moveTo>
                <a:lnTo>
                  <a:pt x="1175499" y="196837"/>
                </a:lnTo>
                <a:lnTo>
                  <a:pt x="1169593" y="197904"/>
                </a:lnTo>
                <a:lnTo>
                  <a:pt x="1228860" y="197904"/>
                </a:lnTo>
                <a:lnTo>
                  <a:pt x="1230314" y="195876"/>
                </a:lnTo>
                <a:lnTo>
                  <a:pt x="1234642" y="188081"/>
                </a:lnTo>
                <a:lnTo>
                  <a:pt x="1238516" y="179158"/>
                </a:lnTo>
                <a:lnTo>
                  <a:pt x="1205725" y="169354"/>
                </a:lnTo>
                <a:close/>
              </a:path>
              <a:path w="1736090" h="229235">
                <a:moveTo>
                  <a:pt x="1227290" y="82664"/>
                </a:moveTo>
                <a:lnTo>
                  <a:pt x="1171829" y="82664"/>
                </a:lnTo>
                <a:lnTo>
                  <a:pt x="1179626" y="84670"/>
                </a:lnTo>
                <a:lnTo>
                  <a:pt x="1186624" y="88684"/>
                </a:lnTo>
                <a:lnTo>
                  <a:pt x="1191761" y="92234"/>
                </a:lnTo>
                <a:lnTo>
                  <a:pt x="1196619" y="96939"/>
                </a:lnTo>
                <a:lnTo>
                  <a:pt x="1201201" y="102796"/>
                </a:lnTo>
                <a:lnTo>
                  <a:pt x="1205509" y="109804"/>
                </a:lnTo>
                <a:lnTo>
                  <a:pt x="1237399" y="99695"/>
                </a:lnTo>
                <a:lnTo>
                  <a:pt x="1230959" y="87772"/>
                </a:lnTo>
                <a:lnTo>
                  <a:pt x="1227290" y="82664"/>
                </a:lnTo>
                <a:close/>
              </a:path>
              <a:path w="1736090" h="229235">
                <a:moveTo>
                  <a:pt x="1480794" y="51739"/>
                </a:moveTo>
                <a:lnTo>
                  <a:pt x="1439082" y="62739"/>
                </a:lnTo>
                <a:lnTo>
                  <a:pt x="1409307" y="91457"/>
                </a:lnTo>
                <a:lnTo>
                  <a:pt x="1395976" y="131615"/>
                </a:lnTo>
                <a:lnTo>
                  <a:pt x="1395603" y="140881"/>
                </a:lnTo>
                <a:lnTo>
                  <a:pt x="1395976" y="149279"/>
                </a:lnTo>
                <a:lnTo>
                  <a:pt x="1409271" y="189123"/>
                </a:lnTo>
                <a:lnTo>
                  <a:pt x="1438794" y="217876"/>
                </a:lnTo>
                <a:lnTo>
                  <a:pt x="1480489" y="228828"/>
                </a:lnTo>
                <a:lnTo>
                  <a:pt x="1489638" y="228386"/>
                </a:lnTo>
                <a:lnTo>
                  <a:pt x="1529432" y="213345"/>
                </a:lnTo>
                <a:lnTo>
                  <a:pt x="1545566" y="197904"/>
                </a:lnTo>
                <a:lnTo>
                  <a:pt x="1480489" y="197904"/>
                </a:lnTo>
                <a:lnTo>
                  <a:pt x="1473626" y="197433"/>
                </a:lnTo>
                <a:lnTo>
                  <a:pt x="1439968" y="176172"/>
                </a:lnTo>
                <a:lnTo>
                  <a:pt x="1429194" y="140881"/>
                </a:lnTo>
                <a:lnTo>
                  <a:pt x="1429640" y="132937"/>
                </a:lnTo>
                <a:lnTo>
                  <a:pt x="1449571" y="94784"/>
                </a:lnTo>
                <a:lnTo>
                  <a:pt x="1480489" y="82664"/>
                </a:lnTo>
                <a:lnTo>
                  <a:pt x="1545416" y="82664"/>
                </a:lnTo>
                <a:lnTo>
                  <a:pt x="1541678" y="78282"/>
                </a:lnTo>
                <a:lnTo>
                  <a:pt x="1506778" y="55752"/>
                </a:lnTo>
                <a:lnTo>
                  <a:pt x="1489828" y="52185"/>
                </a:lnTo>
                <a:lnTo>
                  <a:pt x="1480794" y="51739"/>
                </a:lnTo>
                <a:close/>
              </a:path>
              <a:path w="1736090" h="229235">
                <a:moveTo>
                  <a:pt x="1289481" y="54495"/>
                </a:moveTo>
                <a:lnTo>
                  <a:pt x="1256106" y="54495"/>
                </a:lnTo>
                <a:lnTo>
                  <a:pt x="1256106" y="225780"/>
                </a:lnTo>
                <a:lnTo>
                  <a:pt x="1289481" y="225780"/>
                </a:lnTo>
                <a:lnTo>
                  <a:pt x="1289481" y="154190"/>
                </a:lnTo>
                <a:lnTo>
                  <a:pt x="1345223" y="154190"/>
                </a:lnTo>
                <a:lnTo>
                  <a:pt x="1331417" y="137680"/>
                </a:lnTo>
                <a:lnTo>
                  <a:pt x="1343476" y="122364"/>
                </a:lnTo>
                <a:lnTo>
                  <a:pt x="1289481" y="122364"/>
                </a:lnTo>
                <a:lnTo>
                  <a:pt x="1289481" y="54495"/>
                </a:lnTo>
                <a:close/>
              </a:path>
              <a:path w="1736090" h="229235">
                <a:moveTo>
                  <a:pt x="1345223" y="154190"/>
                </a:moveTo>
                <a:lnTo>
                  <a:pt x="1303909" y="154190"/>
                </a:lnTo>
                <a:lnTo>
                  <a:pt x="1364195" y="225780"/>
                </a:lnTo>
                <a:lnTo>
                  <a:pt x="1405089" y="225780"/>
                </a:lnTo>
                <a:lnTo>
                  <a:pt x="1345223" y="154190"/>
                </a:lnTo>
                <a:close/>
              </a:path>
              <a:path w="1736090" h="229235">
                <a:moveTo>
                  <a:pt x="1545416" y="82664"/>
                </a:moveTo>
                <a:lnTo>
                  <a:pt x="1480489" y="82664"/>
                </a:lnTo>
                <a:lnTo>
                  <a:pt x="1487331" y="83138"/>
                </a:lnTo>
                <a:lnTo>
                  <a:pt x="1493874" y="84559"/>
                </a:lnTo>
                <a:lnTo>
                  <a:pt x="1524876" y="110985"/>
                </a:lnTo>
                <a:lnTo>
                  <a:pt x="1531979" y="140881"/>
                </a:lnTo>
                <a:lnTo>
                  <a:pt x="1531563" y="148046"/>
                </a:lnTo>
                <a:lnTo>
                  <a:pt x="1511589" y="186237"/>
                </a:lnTo>
                <a:lnTo>
                  <a:pt x="1480489" y="197904"/>
                </a:lnTo>
                <a:lnTo>
                  <a:pt x="1545566" y="197904"/>
                </a:lnTo>
                <a:lnTo>
                  <a:pt x="1564055" y="157768"/>
                </a:lnTo>
                <a:lnTo>
                  <a:pt x="1565604" y="140881"/>
                </a:lnTo>
                <a:lnTo>
                  <a:pt x="1565491" y="137680"/>
                </a:lnTo>
                <a:lnTo>
                  <a:pt x="1555949" y="98726"/>
                </a:lnTo>
                <a:lnTo>
                  <a:pt x="1547034" y="84559"/>
                </a:lnTo>
                <a:lnTo>
                  <a:pt x="1545416" y="82664"/>
                </a:lnTo>
                <a:close/>
              </a:path>
              <a:path w="1736090" h="229235">
                <a:moveTo>
                  <a:pt x="1396911" y="54495"/>
                </a:moveTo>
                <a:lnTo>
                  <a:pt x="1357134" y="54495"/>
                </a:lnTo>
                <a:lnTo>
                  <a:pt x="1303832" y="122364"/>
                </a:lnTo>
                <a:lnTo>
                  <a:pt x="1343476" y="122364"/>
                </a:lnTo>
                <a:lnTo>
                  <a:pt x="1396911" y="54495"/>
                </a:lnTo>
                <a:close/>
              </a:path>
              <a:path w="1736090" h="229235">
                <a:moveTo>
                  <a:pt x="1640255" y="0"/>
                </a:moveTo>
                <a:lnTo>
                  <a:pt x="1612379" y="0"/>
                </a:lnTo>
                <a:lnTo>
                  <a:pt x="1613207" y="11284"/>
                </a:lnTo>
                <a:lnTo>
                  <a:pt x="1641359" y="44192"/>
                </a:lnTo>
                <a:lnTo>
                  <a:pt x="1661972" y="47053"/>
                </a:lnTo>
                <a:lnTo>
                  <a:pt x="1672783" y="46338"/>
                </a:lnTo>
                <a:lnTo>
                  <a:pt x="1707773" y="21336"/>
                </a:lnTo>
                <a:lnTo>
                  <a:pt x="1654048" y="21336"/>
                </a:lnTo>
                <a:lnTo>
                  <a:pt x="1648434" y="19888"/>
                </a:lnTo>
                <a:lnTo>
                  <a:pt x="1645170" y="17018"/>
                </a:lnTo>
                <a:lnTo>
                  <a:pt x="1641894" y="14097"/>
                </a:lnTo>
                <a:lnTo>
                  <a:pt x="1640325" y="8661"/>
                </a:lnTo>
                <a:lnTo>
                  <a:pt x="1640255" y="0"/>
                </a:lnTo>
                <a:close/>
              </a:path>
              <a:path w="1736090" h="229235">
                <a:moveTo>
                  <a:pt x="1711261" y="0"/>
                </a:moveTo>
                <a:lnTo>
                  <a:pt x="1684197" y="0"/>
                </a:lnTo>
                <a:lnTo>
                  <a:pt x="1683410" y="8661"/>
                </a:lnTo>
                <a:lnTo>
                  <a:pt x="1681441" y="14389"/>
                </a:lnTo>
                <a:lnTo>
                  <a:pt x="1675206" y="19939"/>
                </a:lnTo>
                <a:lnTo>
                  <a:pt x="1669757" y="21336"/>
                </a:lnTo>
                <a:lnTo>
                  <a:pt x="1707773" y="21336"/>
                </a:lnTo>
                <a:lnTo>
                  <a:pt x="1707954" y="20980"/>
                </a:lnTo>
                <a:lnTo>
                  <a:pt x="1710435" y="11284"/>
                </a:lnTo>
                <a:lnTo>
                  <a:pt x="1711261" y="0"/>
                </a:lnTo>
                <a:close/>
              </a:path>
              <a:path w="1736090" h="229235">
                <a:moveTo>
                  <a:pt x="1620786" y="54787"/>
                </a:moveTo>
                <a:lnTo>
                  <a:pt x="1587398" y="54787"/>
                </a:lnTo>
                <a:lnTo>
                  <a:pt x="1587398" y="225780"/>
                </a:lnTo>
                <a:lnTo>
                  <a:pt x="1616989" y="225780"/>
                </a:lnTo>
                <a:lnTo>
                  <a:pt x="1656655" y="172250"/>
                </a:lnTo>
                <a:lnTo>
                  <a:pt x="1620786" y="172250"/>
                </a:lnTo>
                <a:lnTo>
                  <a:pt x="1620786" y="54787"/>
                </a:lnTo>
                <a:close/>
              </a:path>
              <a:path w="1736090" h="229235">
                <a:moveTo>
                  <a:pt x="1735861" y="110401"/>
                </a:moveTo>
                <a:lnTo>
                  <a:pt x="1702485" y="110401"/>
                </a:lnTo>
                <a:lnTo>
                  <a:pt x="1702485" y="225780"/>
                </a:lnTo>
                <a:lnTo>
                  <a:pt x="1735861" y="225780"/>
                </a:lnTo>
                <a:lnTo>
                  <a:pt x="1735861" y="110401"/>
                </a:lnTo>
                <a:close/>
              </a:path>
              <a:path w="1736090" h="229235">
                <a:moveTo>
                  <a:pt x="1735861" y="54495"/>
                </a:moveTo>
                <a:lnTo>
                  <a:pt x="1707769" y="54495"/>
                </a:lnTo>
                <a:lnTo>
                  <a:pt x="1620786" y="172250"/>
                </a:lnTo>
                <a:lnTo>
                  <a:pt x="1656655" y="172250"/>
                </a:lnTo>
                <a:lnTo>
                  <a:pt x="1702485" y="110401"/>
                </a:lnTo>
                <a:lnTo>
                  <a:pt x="1735861" y="110401"/>
                </a:lnTo>
                <a:lnTo>
                  <a:pt x="1735861" y="544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50142" y="4281119"/>
            <a:ext cx="2155418" cy="228828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95505" y="5376494"/>
            <a:ext cx="2912745" cy="2921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3912" y="-61391"/>
            <a:ext cx="7300595" cy="2136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10512" y="2555723"/>
            <a:ext cx="8548370" cy="6403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22238" y="9578721"/>
            <a:ext cx="5856224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503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76505" y="9578721"/>
            <a:ext cx="4209161" cy="514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18300700" cy="1029970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8829" y="506165"/>
            <a:ext cx="17355185" cy="9275445"/>
          </a:xfrm>
          <a:custGeom>
            <a:avLst/>
            <a:gdLst/>
            <a:ahLst/>
            <a:cxnLst/>
            <a:rect l="l" t="t" r="r" b="b"/>
            <a:pathLst>
              <a:path w="17355185" h="9275445">
                <a:moveTo>
                  <a:pt x="8677416" y="9274995"/>
                </a:moveTo>
                <a:lnTo>
                  <a:pt x="0" y="9274995"/>
                </a:lnTo>
                <a:lnTo>
                  <a:pt x="0" y="0"/>
                </a:lnTo>
                <a:lnTo>
                  <a:pt x="17354792" y="0"/>
                </a:lnTo>
                <a:lnTo>
                  <a:pt x="17354792" y="9274995"/>
                </a:lnTo>
                <a:lnTo>
                  <a:pt x="8677416" y="9274995"/>
                </a:lnTo>
                <a:close/>
              </a:path>
            </a:pathLst>
          </a:custGeom>
          <a:ln w="1871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25924" y="1849805"/>
            <a:ext cx="9000490" cy="1871980"/>
          </a:xfrm>
          <a:prstGeom prst="rect">
            <a:avLst/>
          </a:prstGeom>
        </p:spPr>
        <p:txBody>
          <a:bodyPr vert="horz" wrap="square" lIns="0" tIns="196850" rIns="0" bIns="0" rtlCol="0">
            <a:spAutoFit/>
          </a:bodyPr>
          <a:lstStyle/>
          <a:p>
            <a:pPr marL="12700" marR="5080" indent="1130300">
              <a:lnSpc>
                <a:spcPts val="6530"/>
              </a:lnSpc>
              <a:spcBef>
                <a:spcPts val="1550"/>
              </a:spcBef>
            </a:pPr>
            <a:r>
              <a:rPr sz="6650" b="0" spc="250" dirty="0">
                <a:latin typeface="Tahoma"/>
                <a:cs typeface="Tahoma"/>
              </a:rPr>
              <a:t>Каталитическое </a:t>
            </a:r>
            <a:r>
              <a:rPr sz="6650" b="0" spc="280" dirty="0">
                <a:latin typeface="Tahoma"/>
                <a:cs typeface="Tahoma"/>
              </a:rPr>
              <a:t>разложение</a:t>
            </a:r>
            <a:r>
              <a:rPr sz="6650" b="0" spc="-175" dirty="0">
                <a:latin typeface="Tahoma"/>
                <a:cs typeface="Tahoma"/>
              </a:rPr>
              <a:t> </a:t>
            </a:r>
            <a:r>
              <a:rPr sz="6650" b="0" spc="365" dirty="0">
                <a:latin typeface="Tahoma"/>
                <a:cs typeface="Tahoma"/>
              </a:rPr>
              <a:t>аммиака</a:t>
            </a:r>
            <a:endParaRPr sz="665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25225" y="8239773"/>
            <a:ext cx="8237855" cy="20320"/>
          </a:xfrm>
          <a:custGeom>
            <a:avLst/>
            <a:gdLst/>
            <a:ahLst/>
            <a:cxnLst/>
            <a:rect l="l" t="t" r="r" b="b"/>
            <a:pathLst>
              <a:path w="8237855" h="20320">
                <a:moveTo>
                  <a:pt x="8237499" y="1435"/>
                </a:moveTo>
                <a:lnTo>
                  <a:pt x="0" y="0"/>
                </a:lnTo>
                <a:lnTo>
                  <a:pt x="0" y="18719"/>
                </a:lnTo>
                <a:lnTo>
                  <a:pt x="8237499" y="20154"/>
                </a:lnTo>
                <a:lnTo>
                  <a:pt x="8237499" y="14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79540" y="4635487"/>
            <a:ext cx="6294120" cy="3097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indent="-635" algn="ctr">
              <a:lnSpc>
                <a:spcPct val="100800"/>
              </a:lnSpc>
              <a:spcBef>
                <a:spcPts val="90"/>
              </a:spcBef>
            </a:pPr>
            <a:r>
              <a:rPr sz="4000" spc="160" dirty="0">
                <a:solidFill>
                  <a:srgbClr val="FBF5F5"/>
                </a:solidFill>
                <a:latin typeface="Tahoma"/>
                <a:cs typeface="Tahoma"/>
              </a:rPr>
              <a:t>Литературный</a:t>
            </a:r>
            <a:r>
              <a:rPr sz="4000" spc="-120" dirty="0">
                <a:solidFill>
                  <a:srgbClr val="FBF5F5"/>
                </a:solidFill>
                <a:latin typeface="Tahoma"/>
                <a:cs typeface="Tahoma"/>
              </a:rPr>
              <a:t> </a:t>
            </a:r>
            <a:r>
              <a:rPr sz="4000" spc="175" dirty="0">
                <a:solidFill>
                  <a:srgbClr val="FBF5F5"/>
                </a:solidFill>
                <a:latin typeface="Tahoma"/>
                <a:cs typeface="Tahoma"/>
              </a:rPr>
              <a:t>обзор </a:t>
            </a:r>
            <a:r>
              <a:rPr sz="4000" spc="145" dirty="0">
                <a:solidFill>
                  <a:srgbClr val="FBF5F5"/>
                </a:solidFill>
                <a:latin typeface="Tahoma"/>
                <a:cs typeface="Tahoma"/>
              </a:rPr>
              <a:t>подготовлен</a:t>
            </a:r>
            <a:r>
              <a:rPr sz="4000" spc="-75" dirty="0">
                <a:solidFill>
                  <a:srgbClr val="FBF5F5"/>
                </a:solidFill>
                <a:latin typeface="Tahoma"/>
                <a:cs typeface="Tahoma"/>
              </a:rPr>
              <a:t> </a:t>
            </a:r>
            <a:r>
              <a:rPr sz="4000" spc="185" dirty="0">
                <a:solidFill>
                  <a:srgbClr val="FBF5F5"/>
                </a:solidFill>
                <a:latin typeface="Tahoma"/>
                <a:cs typeface="Tahoma"/>
              </a:rPr>
              <a:t>студентами </a:t>
            </a:r>
            <a:r>
              <a:rPr sz="4000" spc="75" dirty="0">
                <a:solidFill>
                  <a:srgbClr val="FBF5F5"/>
                </a:solidFill>
                <a:latin typeface="Tahoma"/>
                <a:cs typeface="Tahoma"/>
              </a:rPr>
              <a:t>124</a:t>
            </a:r>
            <a:r>
              <a:rPr sz="4000" spc="-110" dirty="0">
                <a:solidFill>
                  <a:srgbClr val="FBF5F5"/>
                </a:solidFill>
                <a:latin typeface="Tahoma"/>
                <a:cs typeface="Tahoma"/>
              </a:rPr>
              <a:t> </a:t>
            </a:r>
            <a:r>
              <a:rPr sz="4000" spc="150" dirty="0">
                <a:solidFill>
                  <a:srgbClr val="FBF5F5"/>
                </a:solidFill>
                <a:latin typeface="Tahoma"/>
                <a:cs typeface="Tahoma"/>
              </a:rPr>
              <a:t>группы</a:t>
            </a:r>
            <a:endParaRPr sz="4000">
              <a:latin typeface="Tahoma"/>
              <a:cs typeface="Tahoma"/>
            </a:endParaRPr>
          </a:p>
          <a:p>
            <a:pPr marL="314960" marR="307340" algn="ctr">
              <a:lnSpc>
                <a:spcPct val="100000"/>
              </a:lnSpc>
              <a:spcBef>
                <a:spcPts val="75"/>
              </a:spcBef>
            </a:pPr>
            <a:r>
              <a:rPr sz="4000" spc="180" dirty="0">
                <a:solidFill>
                  <a:srgbClr val="FBF5F5"/>
                </a:solidFill>
                <a:latin typeface="Tahoma"/>
                <a:cs typeface="Tahoma"/>
              </a:rPr>
              <a:t>Леготиным</a:t>
            </a:r>
            <a:r>
              <a:rPr sz="4000" spc="-110" dirty="0">
                <a:solidFill>
                  <a:srgbClr val="FBF5F5"/>
                </a:solidFill>
                <a:latin typeface="Tahoma"/>
                <a:cs typeface="Tahoma"/>
              </a:rPr>
              <a:t> </a:t>
            </a:r>
            <a:r>
              <a:rPr sz="4000" spc="260" dirty="0">
                <a:solidFill>
                  <a:srgbClr val="FBF5F5"/>
                </a:solidFill>
                <a:latin typeface="Tahoma"/>
                <a:cs typeface="Tahoma"/>
              </a:rPr>
              <a:t>Андреем</a:t>
            </a:r>
            <a:r>
              <a:rPr sz="4000" spc="-105" dirty="0">
                <a:solidFill>
                  <a:srgbClr val="FBF5F5"/>
                </a:solidFill>
                <a:latin typeface="Tahoma"/>
                <a:cs typeface="Tahoma"/>
              </a:rPr>
              <a:t> </a:t>
            </a:r>
            <a:r>
              <a:rPr sz="4000" spc="85" dirty="0">
                <a:solidFill>
                  <a:srgbClr val="FBF5F5"/>
                </a:solidFill>
                <a:latin typeface="Tahoma"/>
                <a:cs typeface="Tahoma"/>
              </a:rPr>
              <a:t>и </a:t>
            </a:r>
            <a:r>
              <a:rPr sz="4000" spc="210" dirty="0">
                <a:solidFill>
                  <a:srgbClr val="FBF5F5"/>
                </a:solidFill>
                <a:latin typeface="Tahoma"/>
                <a:cs typeface="Tahoma"/>
              </a:rPr>
              <a:t>Егоровым</a:t>
            </a:r>
            <a:r>
              <a:rPr sz="4000" spc="-100" dirty="0">
                <a:solidFill>
                  <a:srgbClr val="FBF5F5"/>
                </a:solidFill>
                <a:latin typeface="Tahoma"/>
                <a:cs typeface="Tahoma"/>
              </a:rPr>
              <a:t> </a:t>
            </a:r>
            <a:r>
              <a:rPr sz="4000" spc="150" dirty="0">
                <a:solidFill>
                  <a:srgbClr val="FBF5F5"/>
                </a:solidFill>
                <a:latin typeface="Tahoma"/>
                <a:cs typeface="Tahoma"/>
              </a:rPr>
              <a:t>Данилой</a:t>
            </a:r>
            <a:endParaRPr sz="4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18300700" cy="102997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01585" rIns="0" bIns="0" rtlCol="0">
            <a:spAutoFit/>
          </a:bodyPr>
          <a:lstStyle/>
          <a:p>
            <a:pPr marL="718820">
              <a:lnSpc>
                <a:spcPct val="100000"/>
              </a:lnSpc>
              <a:spcBef>
                <a:spcPts val="120"/>
              </a:spcBef>
            </a:pPr>
            <a:r>
              <a:rPr sz="6700" b="0" spc="305" dirty="0">
                <a:latin typeface="Tahoma"/>
                <a:cs typeface="Tahoma"/>
              </a:rPr>
              <a:t>Введение</a:t>
            </a:r>
            <a:endParaRPr sz="67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09319">
              <a:lnSpc>
                <a:spcPct val="100600"/>
              </a:lnSpc>
              <a:spcBef>
                <a:spcPts val="100"/>
              </a:spcBef>
            </a:pPr>
            <a:r>
              <a:rPr spc="90" dirty="0"/>
              <a:t>Аммиак</a:t>
            </a:r>
            <a:r>
              <a:rPr spc="-135" dirty="0"/>
              <a:t> </a:t>
            </a:r>
            <a:r>
              <a:rPr spc="655" dirty="0"/>
              <a:t>–</a:t>
            </a:r>
            <a:r>
              <a:rPr spc="-130" dirty="0"/>
              <a:t> </a:t>
            </a:r>
            <a:r>
              <a:rPr spc="60" dirty="0"/>
              <a:t>соединение,</a:t>
            </a:r>
            <a:r>
              <a:rPr spc="-130" dirty="0"/>
              <a:t> </a:t>
            </a:r>
            <a:r>
              <a:rPr spc="110" dirty="0"/>
              <a:t>имеющее </a:t>
            </a:r>
            <a:r>
              <a:rPr spc="125" dirty="0"/>
              <a:t>множество</a:t>
            </a:r>
            <a:r>
              <a:rPr spc="-130" dirty="0"/>
              <a:t> </a:t>
            </a:r>
            <a:r>
              <a:rPr spc="105" dirty="0"/>
              <a:t>применений</a:t>
            </a:r>
            <a:r>
              <a:rPr spc="-125" dirty="0"/>
              <a:t> </a:t>
            </a:r>
            <a:r>
              <a:rPr spc="65" dirty="0"/>
              <a:t>в</a:t>
            </a:r>
            <a:r>
              <a:rPr spc="-125" dirty="0"/>
              <a:t> </a:t>
            </a:r>
            <a:r>
              <a:rPr spc="40" dirty="0"/>
              <a:t>различных </a:t>
            </a:r>
            <a:r>
              <a:rPr spc="90" dirty="0"/>
              <a:t>областях</a:t>
            </a:r>
            <a:r>
              <a:rPr spc="-110" dirty="0"/>
              <a:t> </a:t>
            </a:r>
            <a:r>
              <a:rPr spc="50" dirty="0"/>
              <a:t>промышленности:</a:t>
            </a:r>
            <a:r>
              <a:rPr spc="-110" dirty="0"/>
              <a:t> </a:t>
            </a:r>
            <a:r>
              <a:rPr spc="100" dirty="0"/>
              <a:t>от </a:t>
            </a:r>
            <a:r>
              <a:rPr spc="65" dirty="0"/>
              <a:t>альтернативных</a:t>
            </a:r>
            <a:r>
              <a:rPr spc="-114" dirty="0"/>
              <a:t> </a:t>
            </a:r>
            <a:r>
              <a:rPr spc="80" dirty="0"/>
              <a:t>источников</a:t>
            </a:r>
            <a:r>
              <a:rPr spc="-114" dirty="0"/>
              <a:t> </a:t>
            </a:r>
            <a:r>
              <a:rPr spc="100" dirty="0"/>
              <a:t>энергии</a:t>
            </a:r>
            <a:r>
              <a:rPr spc="-114" dirty="0"/>
              <a:t> </a:t>
            </a:r>
            <a:r>
              <a:rPr spc="20" dirty="0"/>
              <a:t>и </a:t>
            </a:r>
            <a:r>
              <a:rPr spc="65" dirty="0"/>
              <a:t>вплоть</a:t>
            </a:r>
            <a:r>
              <a:rPr spc="-135" dirty="0"/>
              <a:t> </a:t>
            </a:r>
            <a:r>
              <a:rPr spc="60" dirty="0"/>
              <a:t>до</a:t>
            </a:r>
          </a:p>
          <a:p>
            <a:pPr marL="12700" marR="3505200">
              <a:lnSpc>
                <a:spcPts val="3900"/>
              </a:lnSpc>
              <a:spcBef>
                <a:spcPts val="65"/>
              </a:spcBef>
            </a:pPr>
            <a:r>
              <a:rPr spc="80" dirty="0"/>
              <a:t>топлива</a:t>
            </a:r>
            <a:r>
              <a:rPr spc="-130" dirty="0"/>
              <a:t> </a:t>
            </a:r>
            <a:r>
              <a:rPr dirty="0"/>
              <a:t>для</a:t>
            </a:r>
            <a:r>
              <a:rPr spc="-130" dirty="0"/>
              <a:t> </a:t>
            </a:r>
            <a:r>
              <a:rPr spc="60" dirty="0"/>
              <a:t>космических </a:t>
            </a:r>
            <a:r>
              <a:rPr spc="-10" dirty="0"/>
              <a:t>микродвигателей.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spc="325" dirty="0"/>
              <a:t>В</a:t>
            </a:r>
            <a:r>
              <a:rPr spc="-145" dirty="0"/>
              <a:t> </a:t>
            </a:r>
            <a:r>
              <a:rPr spc="110" dirty="0"/>
              <a:t>промышленности</a:t>
            </a:r>
            <a:r>
              <a:rPr spc="-140" dirty="0"/>
              <a:t> </a:t>
            </a:r>
            <a:r>
              <a:rPr spc="95" dirty="0"/>
              <a:t>реакцию</a:t>
            </a:r>
          </a:p>
          <a:p>
            <a:pPr marL="12700" marR="5080">
              <a:lnSpc>
                <a:spcPct val="100299"/>
              </a:lnSpc>
              <a:spcBef>
                <a:spcPts val="50"/>
              </a:spcBef>
            </a:pPr>
            <a:r>
              <a:rPr spc="105" dirty="0"/>
              <a:t>разложения</a:t>
            </a:r>
            <a:r>
              <a:rPr spc="-135" dirty="0"/>
              <a:t> </a:t>
            </a:r>
            <a:r>
              <a:rPr spc="75" dirty="0"/>
              <a:t>аммиака</a:t>
            </a:r>
            <a:r>
              <a:rPr spc="-135" dirty="0"/>
              <a:t> </a:t>
            </a:r>
            <a:r>
              <a:rPr spc="85" dirty="0"/>
              <a:t>используют</a:t>
            </a:r>
            <a:r>
              <a:rPr spc="-130" dirty="0"/>
              <a:t> </a:t>
            </a:r>
            <a:r>
              <a:rPr spc="65" dirty="0"/>
              <a:t>в</a:t>
            </a:r>
            <a:r>
              <a:rPr spc="-135" dirty="0"/>
              <a:t> </a:t>
            </a:r>
            <a:r>
              <a:rPr spc="114" dirty="0"/>
              <a:t>первую </a:t>
            </a:r>
            <a:r>
              <a:rPr spc="85" dirty="0"/>
              <a:t>очередь</a:t>
            </a:r>
            <a:r>
              <a:rPr spc="-135" dirty="0"/>
              <a:t> </a:t>
            </a:r>
            <a:r>
              <a:rPr dirty="0"/>
              <a:t>для</a:t>
            </a:r>
            <a:r>
              <a:rPr spc="-135" dirty="0"/>
              <a:t> </a:t>
            </a:r>
            <a:r>
              <a:rPr spc="80" dirty="0"/>
              <a:t>отчистки</a:t>
            </a:r>
            <a:r>
              <a:rPr spc="-130" dirty="0"/>
              <a:t> </a:t>
            </a:r>
            <a:r>
              <a:rPr spc="60" dirty="0"/>
              <a:t>газов</a:t>
            </a:r>
            <a:r>
              <a:rPr spc="-135" dirty="0"/>
              <a:t> </a:t>
            </a:r>
            <a:r>
              <a:rPr spc="20" dirty="0"/>
              <a:t>и </a:t>
            </a:r>
            <a:r>
              <a:rPr spc="70" dirty="0"/>
              <a:t>вентиляционных</a:t>
            </a:r>
            <a:r>
              <a:rPr spc="-140" dirty="0"/>
              <a:t> </a:t>
            </a:r>
            <a:r>
              <a:rPr spc="60" dirty="0"/>
              <a:t>выбросов,</a:t>
            </a:r>
            <a:r>
              <a:rPr spc="-135" dirty="0"/>
              <a:t> </a:t>
            </a:r>
            <a:r>
              <a:rPr spc="110" dirty="0"/>
              <a:t>а</a:t>
            </a:r>
            <a:r>
              <a:rPr spc="-135" dirty="0"/>
              <a:t> </a:t>
            </a:r>
            <a:r>
              <a:rPr spc="100" dirty="0"/>
              <a:t>также</a:t>
            </a:r>
            <a:r>
              <a:rPr spc="-135" dirty="0"/>
              <a:t> </a:t>
            </a:r>
            <a:r>
              <a:rPr spc="-25" dirty="0"/>
              <a:t>для </a:t>
            </a:r>
            <a:r>
              <a:rPr spc="65" dirty="0"/>
              <a:t>получения</a:t>
            </a:r>
            <a:r>
              <a:rPr spc="-110" dirty="0"/>
              <a:t> </a:t>
            </a:r>
            <a:r>
              <a:rPr spc="40" dirty="0"/>
              <a:t>водорода.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622869" y="1062035"/>
            <a:ext cx="15638144" cy="8162925"/>
            <a:chOff x="1622869" y="1062035"/>
            <a:chExt cx="15638144" cy="816292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0382" y="1062035"/>
              <a:ext cx="5610224" cy="816292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622856" y="9204807"/>
              <a:ext cx="7738109" cy="20320"/>
            </a:xfrm>
            <a:custGeom>
              <a:avLst/>
              <a:gdLst/>
              <a:ahLst/>
              <a:cxnLst/>
              <a:rect l="l" t="t" r="r" b="b"/>
              <a:pathLst>
                <a:path w="7738109" h="20320">
                  <a:moveTo>
                    <a:pt x="7737843" y="1447"/>
                  </a:moveTo>
                  <a:lnTo>
                    <a:pt x="0" y="0"/>
                  </a:lnTo>
                  <a:lnTo>
                    <a:pt x="0" y="18719"/>
                  </a:lnTo>
                  <a:lnTo>
                    <a:pt x="7737843" y="20154"/>
                  </a:lnTo>
                  <a:lnTo>
                    <a:pt x="7737843" y="14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2">
            <a:extLst>
              <a:ext uri="{FF2B5EF4-FFF2-40B4-BE49-F238E27FC236}">
                <a16:creationId xmlns:a16="http://schemas.microsoft.com/office/drawing/2014/main" id="{DC9AA8BD-9E1D-2C7F-2BDB-F71BCD4D515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300700" cy="10299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557A2-51BF-3C0C-D23E-56F7B1445CD5}"/>
              </a:ext>
            </a:extLst>
          </p:cNvPr>
          <p:cNvSpPr txBox="1"/>
          <p:nvPr/>
        </p:nvSpPr>
        <p:spPr>
          <a:xfrm>
            <a:off x="882650" y="758398"/>
            <a:ext cx="73632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Сырьё для реакции</a:t>
            </a:r>
            <a:endParaRPr lang="de-DE" sz="60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Рисунок 7" descr="Изображение выглядит как машина, цилиндр, промышленность, в помещении&#10;&#10;Автоматически созданное описание">
            <a:extLst>
              <a:ext uri="{FF2B5EF4-FFF2-40B4-BE49-F238E27FC236}">
                <a16:creationId xmlns:a16="http://schemas.microsoft.com/office/drawing/2014/main" id="{86103185-1954-75D0-C2CF-7CF338BDD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50" y="1774061"/>
            <a:ext cx="8077200" cy="807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0D9627-DC27-B2C1-56C4-F50B448FDABD}"/>
              </a:ext>
            </a:extLst>
          </p:cNvPr>
          <p:cNvSpPr txBox="1"/>
          <p:nvPr/>
        </p:nvSpPr>
        <p:spPr>
          <a:xfrm>
            <a:off x="9464675" y="1774061"/>
            <a:ext cx="80772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Сырьём для реакции служит аммиак, как в жидком, так и газообразном виде.</a:t>
            </a:r>
          </a:p>
          <a:p>
            <a:endParaRPr lang="ru-RU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r>
              <a:rPr lang="ru-RU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Например для электротермического микродвигателя, который будет рассмотрен позднее, используют жидкий аммиак ГОСТ 6221-90 со степенью фильтрации не хуже 20 мкм</a:t>
            </a:r>
          </a:p>
          <a:p>
            <a:endParaRPr lang="ru-RU" sz="3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 pitchFamily="34" charset="0"/>
              </a:rPr>
              <a:t>А</a:t>
            </a:r>
            <a:r>
              <a:rPr lang="ru-RU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в установки для отчистки газов и вентиляционных выбросов поступает </a:t>
            </a:r>
            <a:r>
              <a:rPr lang="ru-RU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низкоконцентрированный</a:t>
            </a:r>
            <a:r>
              <a:rPr lang="ru-RU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</a:t>
            </a:r>
            <a:r>
              <a:rPr lang="ru-RU" sz="32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аммиакосодержащие</a:t>
            </a:r>
            <a:r>
              <a:rPr lang="ru-RU" sz="32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газы, примерно до 1,8%.</a:t>
            </a:r>
            <a:endParaRPr lang="de-DE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572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8D51FAD3-FD27-A075-BE10-C716066095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300700" cy="102997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2579D3-DB61-23B9-9EEB-3D3C66D9C025}"/>
              </a:ext>
            </a:extLst>
          </p:cNvPr>
          <p:cNvSpPr txBox="1"/>
          <p:nvPr/>
        </p:nvSpPr>
        <p:spPr>
          <a:xfrm>
            <a:off x="2076137" y="120650"/>
            <a:ext cx="159309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ru-RU" sz="4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катализаторов разложения аммиака</a:t>
            </a:r>
            <a:endParaRPr lang="de-DE" sz="4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 descr="A futuristic and sleek laboratory setup featuring a catalyst for ammonia decomposition reaction, situated on a metallic workbench with a clean and reflective surface, surrounded by various scientific equipment and glassware, including beakers, flasks, andpipettes, with a subtle blue glow emanating from the catalyst, symbolizing its role in facilitating the chemical reaction, against a soft, gradient background that transitions from pale grey to white, with a hint of neon blue accents, evoking a sense of modernity and innovation, and in the foreground, a few ammonia molecules are illustrated in a stylized, minimalist manner, with bold lines and simple shapes, in shades of dark blue and grey, to highlight the reaction's significance, with the overall composition balanced and harmonious, conveying a sense of precision and discovery.">
            <a:extLst>
              <a:ext uri="{FF2B5EF4-FFF2-40B4-BE49-F238E27FC236}">
                <a16:creationId xmlns:a16="http://schemas.microsoft.com/office/drawing/2014/main" id="{39A05448-24CD-120B-2E42-642A94DD7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5550" y="1339850"/>
            <a:ext cx="8216324" cy="821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A9CCDA-AF86-B7B2-87C8-118D5EC55C7B}"/>
              </a:ext>
            </a:extLst>
          </p:cNvPr>
          <p:cNvSpPr txBox="1"/>
          <p:nvPr/>
        </p:nvSpPr>
        <p:spPr>
          <a:xfrm>
            <a:off x="768350" y="1568450"/>
            <a:ext cx="7315200" cy="7520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kern="10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реакции диссоциации аммиака их известно целое множество. Разработка и изучение данных катализаторов активно велась ещё в прошлом веке.</a:t>
            </a:r>
            <a:endParaRPr lang="de-DE" sz="2000" kern="100" dirty="0">
              <a:solidFill>
                <a:schemeClr val="bg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u-RU" sz="2000" dirty="0">
              <a:solidFill>
                <a:schemeClr val="bg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00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Так в 1970 году был опубликован патент </a:t>
            </a:r>
            <a:r>
              <a:rPr lang="en-US" sz="200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</a:t>
            </a:r>
            <a:r>
              <a:rPr lang="ru-RU" sz="200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282297 </a:t>
            </a:r>
            <a:r>
              <a:rPr lang="en-US" sz="200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  <a:r>
              <a:rPr lang="ru-RU" sz="200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1, в котором описывается способ приготовления катализатора КДА-4. </a:t>
            </a:r>
          </a:p>
          <a:p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Его состав:</a:t>
            </a:r>
            <a:endParaRPr lang="en-US" sz="20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•закись никеля (</a:t>
            </a:r>
            <a:r>
              <a:rPr lang="de-DE" sz="20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NiO</a:t>
            </a:r>
            <a:r>
              <a:rPr lang="de-DE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15–30%</a:t>
            </a:r>
          </a:p>
          <a:p>
            <a:r>
              <a:rPr lang="de-DE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</a:t>
            </a:r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окись алюминия (</a:t>
            </a:r>
            <a:r>
              <a:rPr lang="de-DE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Al2O3) 17-30%</a:t>
            </a:r>
          </a:p>
          <a:p>
            <a:r>
              <a:rPr lang="de-DE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</a:t>
            </a:r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окись кальция (</a:t>
            </a:r>
            <a:r>
              <a:rPr lang="de-DE" sz="20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CaO</a:t>
            </a:r>
            <a:r>
              <a:rPr lang="de-DE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8-18%</a:t>
            </a:r>
          </a:p>
          <a:p>
            <a:r>
              <a:rPr lang="de-DE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</a:t>
            </a:r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окись магния (</a:t>
            </a:r>
            <a:r>
              <a:rPr lang="de-DE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MgO) 10-20%</a:t>
            </a:r>
          </a:p>
          <a:p>
            <a:r>
              <a:rPr lang="de-DE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</a:t>
            </a:r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двуокись кремния, сера, железо, вносимы с сырьём, и графит 25–27%.</a:t>
            </a:r>
          </a:p>
          <a:p>
            <a:endParaRPr lang="en-US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2023 году был опубликован патент RU 2 798 955 C1, в котором описывается способ приготовления катализатора, позволяющего проводить реакцию при 500 C.</a:t>
            </a:r>
            <a:endParaRPr lang="en-US" sz="20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формирования каталитически активного слоя используют ZrO</a:t>
            </a:r>
            <a:r>
              <a:rPr lang="ru-RU" sz="1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 </a:t>
            </a:r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или</a:t>
            </a:r>
            <a:r>
              <a:rPr lang="ru-RU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ru-RU" sz="1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0.5</a:t>
            </a:r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Zr</a:t>
            </a:r>
            <a:r>
              <a:rPr lang="ru-RU" sz="1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0.5</a:t>
            </a:r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ru-RU" sz="1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 формирование слоя активатора осуществляют путем пропитки подготовленного носителя - раствором комплекса рутения [Ru[(NH3)</a:t>
            </a:r>
            <a:r>
              <a:rPr lang="ru-RU" sz="12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ru-RU" sz="20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</a:t>
            </a:r>
            <a:r>
              <a:rPr lang="ru-RU" sz="12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</a:t>
            </a:r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</a:t>
            </a:r>
            <a:r>
              <a:rPr lang="ru-RU" sz="20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OH</a:t>
            </a:r>
            <a:r>
              <a:rPr lang="ru-RU" sz="12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ru-RU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2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где n=5-6, m=0-1, р=1-2.</a:t>
            </a:r>
            <a:endParaRPr lang="ru-RU" sz="1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502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18300700" cy="102997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4137" y="208169"/>
            <a:ext cx="9143998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4800" spc="-85" dirty="0"/>
              <a:t>Современные</a:t>
            </a:r>
            <a:r>
              <a:rPr sz="4800" spc="-185" dirty="0"/>
              <a:t> </a:t>
            </a:r>
            <a:r>
              <a:rPr lang="ru-RU" sz="4800" spc="-185" dirty="0"/>
              <a:t>промышленные </a:t>
            </a:r>
            <a:r>
              <a:rPr lang="ru-RU" sz="4800" spc="-114" dirty="0"/>
              <a:t>катализаторы</a:t>
            </a:r>
            <a:endParaRPr lang="ru-RU" sz="48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6839" y="2627973"/>
            <a:ext cx="9143998" cy="17716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137" y="5126408"/>
            <a:ext cx="9143998" cy="17716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6839" y="7624855"/>
            <a:ext cx="9143998" cy="17716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192272" y="1875811"/>
            <a:ext cx="8047990" cy="827284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0"/>
              </a:spcBef>
            </a:pP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До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80" dirty="0">
                <a:solidFill>
                  <a:srgbClr val="FFFFFF"/>
                </a:solidFill>
                <a:latin typeface="Tahoma"/>
                <a:cs typeface="Tahoma"/>
              </a:rPr>
              <a:t>недавнего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ahoma"/>
                <a:cs typeface="Tahoma"/>
              </a:rPr>
              <a:t>времени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20" dirty="0">
                <a:solidFill>
                  <a:srgbClr val="FFFFFF"/>
                </a:solidFill>
                <a:latin typeface="Tahoma"/>
                <a:cs typeface="Tahoma"/>
              </a:rPr>
              <a:t>на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многочисленных </a:t>
            </a: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заводах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5" dirty="0">
                <a:solidFill>
                  <a:srgbClr val="FFFFFF"/>
                </a:solidFill>
                <a:latin typeface="Tahoma"/>
                <a:cs typeface="Tahoma"/>
              </a:rPr>
              <a:t>использовались</a:t>
            </a:r>
            <a:r>
              <a:rPr sz="32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катализаторы,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разработанные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40" dirty="0">
                <a:solidFill>
                  <a:srgbClr val="FFFFFF"/>
                </a:solidFill>
                <a:latin typeface="Tahoma"/>
                <a:cs typeface="Tahoma"/>
              </a:rPr>
              <a:t>и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произведенные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в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других </a:t>
            </a:r>
            <a:r>
              <a:rPr sz="3200" spc="-35" dirty="0">
                <a:solidFill>
                  <a:srgbClr val="FFFFFF"/>
                </a:solidFill>
                <a:latin typeface="Tahoma"/>
                <a:cs typeface="Tahoma"/>
              </a:rPr>
              <a:t>странах,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ahoma"/>
                <a:cs typeface="Tahoma"/>
              </a:rPr>
              <a:t>из-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за</a:t>
            </a:r>
            <a:r>
              <a:rPr sz="3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5" dirty="0">
                <a:solidFill>
                  <a:srgbClr val="FFFFFF"/>
                </a:solidFill>
                <a:latin typeface="Tahoma"/>
                <a:cs typeface="Tahoma"/>
              </a:rPr>
              <a:t>чего</a:t>
            </a:r>
            <a:r>
              <a:rPr sz="3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промышленность 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напрямую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зависела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от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Tahoma"/>
                <a:cs typeface="Tahoma"/>
              </a:rPr>
              <a:t>этих</a:t>
            </a:r>
            <a:r>
              <a:rPr sz="32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стран.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ahoma"/>
                <a:cs typeface="Tahoma"/>
              </a:rPr>
              <a:t>Для </a:t>
            </a:r>
            <a:r>
              <a:rPr sz="3200" spc="-35" dirty="0">
                <a:solidFill>
                  <a:srgbClr val="FFFFFF"/>
                </a:solidFill>
                <a:latin typeface="Tahoma"/>
                <a:cs typeface="Tahoma"/>
              </a:rPr>
              <a:t>борьбы</a:t>
            </a:r>
            <a:r>
              <a:rPr sz="32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150" dirty="0">
                <a:solidFill>
                  <a:srgbClr val="FFFFFF"/>
                </a:solidFill>
                <a:latin typeface="Tahoma"/>
                <a:cs typeface="Tahoma"/>
              </a:rPr>
              <a:t>с</a:t>
            </a:r>
            <a:r>
              <a:rPr sz="32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ahoma"/>
                <a:cs typeface="Tahoma"/>
              </a:rPr>
              <a:t>этой</a:t>
            </a:r>
            <a:r>
              <a:rPr sz="3200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проблемой</a:t>
            </a:r>
            <a:r>
              <a:rPr sz="3200" spc="-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проводится импортозамещение.</a:t>
            </a:r>
            <a:endParaRPr sz="3200" dirty="0">
              <a:latin typeface="Tahoma"/>
              <a:cs typeface="Tahoma"/>
            </a:endParaRPr>
          </a:p>
          <a:p>
            <a:pPr marL="12700" marR="297180">
              <a:lnSpc>
                <a:spcPct val="100899"/>
              </a:lnSpc>
              <a:spcBef>
                <a:spcPts val="15"/>
              </a:spcBef>
            </a:pPr>
            <a:r>
              <a:rPr sz="3200" spc="-80" dirty="0">
                <a:solidFill>
                  <a:srgbClr val="FFFFFF"/>
                </a:solidFill>
                <a:latin typeface="Tahoma"/>
                <a:cs typeface="Tahoma"/>
              </a:rPr>
              <a:t>Так</a:t>
            </a:r>
            <a:r>
              <a:rPr sz="32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в</a:t>
            </a:r>
            <a:r>
              <a:rPr sz="32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Tahoma"/>
                <a:cs typeface="Tahoma"/>
              </a:rPr>
              <a:t>январе</a:t>
            </a:r>
            <a:r>
              <a:rPr sz="32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40" dirty="0">
                <a:solidFill>
                  <a:srgbClr val="FFFFFF"/>
                </a:solidFill>
                <a:latin typeface="Tahoma"/>
                <a:cs typeface="Tahoma"/>
              </a:rPr>
              <a:t>2017</a:t>
            </a:r>
            <a:r>
              <a:rPr sz="32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ahoma"/>
                <a:cs typeface="Tahoma"/>
              </a:rPr>
              <a:t>года</a:t>
            </a:r>
            <a:r>
              <a:rPr sz="32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удалось</a:t>
            </a:r>
            <a:r>
              <a:rPr sz="32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заменить </a:t>
            </a:r>
            <a:r>
              <a:rPr sz="3200" spc="-100" dirty="0">
                <a:solidFill>
                  <a:srgbClr val="FFFFFF"/>
                </a:solidFill>
                <a:latin typeface="Tahoma"/>
                <a:cs typeface="Tahoma"/>
              </a:rPr>
              <a:t>высокоэффективный</a:t>
            </a:r>
            <a:r>
              <a:rPr sz="32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катализатор</a:t>
            </a:r>
            <a:r>
              <a:rPr sz="32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марки 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G1-</a:t>
            </a:r>
            <a:r>
              <a:rPr sz="3200" spc="-445" dirty="0">
                <a:solidFill>
                  <a:srgbClr val="FFFFFF"/>
                </a:solidFill>
                <a:latin typeface="Tahoma"/>
                <a:cs typeface="Tahoma"/>
              </a:rPr>
              <a:t>11</a:t>
            </a:r>
            <a:r>
              <a:rPr sz="32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немецкой</a:t>
            </a:r>
            <a:r>
              <a:rPr sz="32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35" dirty="0">
                <a:solidFill>
                  <a:srgbClr val="FFFFFF"/>
                </a:solidFill>
                <a:latin typeface="Tahoma"/>
                <a:cs typeface="Tahoma"/>
              </a:rPr>
              <a:t>фирмы</a:t>
            </a:r>
            <a:r>
              <a:rPr sz="32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для</a:t>
            </a:r>
            <a:r>
              <a:rPr sz="32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очистки </a:t>
            </a:r>
            <a:r>
              <a:rPr sz="3200" spc="-75" dirty="0">
                <a:solidFill>
                  <a:srgbClr val="FFFFFF"/>
                </a:solidFill>
                <a:latin typeface="Tahoma"/>
                <a:cs typeface="Tahoma"/>
              </a:rPr>
              <a:t>коксовых</a:t>
            </a:r>
            <a:r>
              <a:rPr sz="32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80" dirty="0">
                <a:solidFill>
                  <a:srgbClr val="FFFFFF"/>
                </a:solidFill>
                <a:latin typeface="Tahoma"/>
                <a:cs typeface="Tahoma"/>
              </a:rPr>
              <a:t>газов,</a:t>
            </a:r>
            <a:r>
              <a:rPr sz="32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Tahoma"/>
                <a:cs typeface="Tahoma"/>
              </a:rPr>
              <a:t>содержащих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синильную </a:t>
            </a: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кислоту,</a:t>
            </a:r>
            <a:r>
              <a:rPr sz="3200" spc="-1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Tahoma"/>
                <a:cs typeface="Tahoma"/>
              </a:rPr>
              <a:t>бензол,</a:t>
            </a:r>
            <a:r>
              <a:rPr sz="32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сероводород,</a:t>
            </a:r>
            <a:r>
              <a:rPr sz="3200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воду, </a:t>
            </a: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аммиак</a:t>
            </a:r>
            <a:r>
              <a:rPr sz="32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20" dirty="0">
                <a:solidFill>
                  <a:srgbClr val="FFFFFF"/>
                </a:solidFill>
                <a:latin typeface="Tahoma"/>
                <a:cs typeface="Tahoma"/>
              </a:rPr>
              <a:t>на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80" dirty="0">
                <a:solidFill>
                  <a:srgbClr val="FFFFFF"/>
                </a:solidFill>
                <a:latin typeface="Tahoma"/>
                <a:cs typeface="Tahoma"/>
              </a:rPr>
              <a:t>разработанный</a:t>
            </a:r>
            <a:r>
              <a:rPr sz="32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контакт</a:t>
            </a:r>
            <a:endParaRPr sz="3200" dirty="0">
              <a:latin typeface="Tahoma"/>
              <a:cs typeface="Tahoma"/>
            </a:endParaRPr>
          </a:p>
          <a:p>
            <a:pPr marL="12700" marR="100330">
              <a:lnSpc>
                <a:spcPts val="3529"/>
              </a:lnSpc>
              <a:spcBef>
                <a:spcPts val="10"/>
              </a:spcBef>
            </a:pP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НИАП-</a:t>
            </a:r>
            <a:r>
              <a:rPr sz="3200" spc="-100" dirty="0">
                <a:solidFill>
                  <a:srgbClr val="FFFFFF"/>
                </a:solidFill>
                <a:latin typeface="Tahoma"/>
                <a:cs typeface="Tahoma"/>
              </a:rPr>
              <a:t>13-</a:t>
            </a:r>
            <a:r>
              <a:rPr sz="3200" spc="60" dirty="0">
                <a:solidFill>
                  <a:srgbClr val="FFFFFF"/>
                </a:solidFill>
                <a:latin typeface="Tahoma"/>
                <a:cs typeface="Tahoma"/>
              </a:rPr>
              <a:t>06</a:t>
            </a:r>
            <a:r>
              <a:rPr sz="3200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(КДА-</a:t>
            </a:r>
            <a:r>
              <a:rPr sz="3200" spc="-110" dirty="0">
                <a:solidFill>
                  <a:srgbClr val="FFFFFF"/>
                </a:solidFill>
                <a:latin typeface="Tahoma"/>
                <a:cs typeface="Tahoma"/>
              </a:rPr>
              <a:t>18А).</a:t>
            </a:r>
            <a:r>
              <a:rPr sz="32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Катализатор </a:t>
            </a:r>
            <a:r>
              <a:rPr sz="3200" spc="-35" dirty="0">
                <a:solidFill>
                  <a:srgbClr val="FFFFFF"/>
                </a:solidFill>
                <a:latin typeface="Tahoma"/>
                <a:cs typeface="Tahoma"/>
              </a:rPr>
              <a:t>обеспечивает</a:t>
            </a:r>
            <a:r>
              <a:rPr sz="3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5" dirty="0">
                <a:solidFill>
                  <a:srgbClr val="FFFFFF"/>
                </a:solidFill>
                <a:latin typeface="Tahoma"/>
                <a:cs typeface="Tahoma"/>
              </a:rPr>
              <a:t>устойчивую</a:t>
            </a:r>
            <a:r>
              <a:rPr sz="32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конверсию </a:t>
            </a:r>
            <a:r>
              <a:rPr sz="3200" spc="-25" dirty="0">
                <a:solidFill>
                  <a:srgbClr val="FFFFFF"/>
                </a:solidFill>
                <a:latin typeface="Tahoma"/>
                <a:cs typeface="Tahoma"/>
              </a:rPr>
              <a:t>диссоциации</a:t>
            </a:r>
            <a:r>
              <a:rPr sz="3200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ahoma"/>
                <a:cs typeface="Tahoma"/>
              </a:rPr>
              <a:t>аммиака</a:t>
            </a:r>
            <a:r>
              <a:rPr sz="3200" spc="-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390" dirty="0">
                <a:solidFill>
                  <a:srgbClr val="FFFFFF"/>
                </a:solidFill>
                <a:latin typeface="Tahoma"/>
                <a:cs typeface="Tahoma"/>
              </a:rPr>
              <a:t>–</a:t>
            </a:r>
            <a:r>
              <a:rPr sz="32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60" dirty="0">
                <a:solidFill>
                  <a:srgbClr val="FFFFFF"/>
                </a:solidFill>
                <a:latin typeface="Tahoma"/>
                <a:cs typeface="Tahoma"/>
              </a:rPr>
              <a:t>99,99%,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ahoma"/>
                <a:cs typeface="Tahoma"/>
              </a:rPr>
              <a:t>что</a:t>
            </a:r>
            <a:r>
              <a:rPr sz="3200" spc="-1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ahoma"/>
                <a:cs typeface="Tahoma"/>
              </a:rPr>
              <a:t>выше </a:t>
            </a:r>
            <a:r>
              <a:rPr sz="3200" spc="-40" dirty="0">
                <a:solidFill>
                  <a:srgbClr val="FFFFFF"/>
                </a:solidFill>
                <a:latin typeface="Tahoma"/>
                <a:cs typeface="Tahoma"/>
              </a:rPr>
              <a:t>активности</a:t>
            </a:r>
            <a:r>
              <a:rPr sz="32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катализатора</a:t>
            </a:r>
            <a:r>
              <a:rPr sz="3200" spc="-1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G1-</a:t>
            </a:r>
            <a:r>
              <a:rPr sz="3200" spc="-385" dirty="0">
                <a:solidFill>
                  <a:srgbClr val="FFFFFF"/>
                </a:solidFill>
                <a:latin typeface="Tahoma"/>
                <a:cs typeface="Tahoma"/>
              </a:rPr>
              <a:t>11.</a:t>
            </a:r>
            <a:endParaRPr sz="32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8288000" cy="102877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50565" y="2599"/>
            <a:ext cx="7436157" cy="21361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948690" algn="l">
              <a:lnSpc>
                <a:spcPct val="100499"/>
              </a:lnSpc>
              <a:spcBef>
                <a:spcPts val="70"/>
              </a:spcBef>
            </a:pPr>
            <a:r>
              <a:rPr spc="55" dirty="0"/>
              <a:t>Аммиак</a:t>
            </a:r>
            <a:r>
              <a:rPr spc="-509" dirty="0"/>
              <a:t> </a:t>
            </a:r>
            <a:r>
              <a:rPr spc="-25" dirty="0"/>
              <a:t>как </a:t>
            </a:r>
            <a:r>
              <a:rPr spc="-140" dirty="0"/>
              <a:t>топливо</a:t>
            </a:r>
            <a:r>
              <a:rPr spc="-515" dirty="0"/>
              <a:t> </a:t>
            </a:r>
            <a:r>
              <a:rPr spc="-210" dirty="0"/>
              <a:t>в</a:t>
            </a:r>
            <a:r>
              <a:rPr spc="-509" dirty="0"/>
              <a:t> </a:t>
            </a:r>
            <a:r>
              <a:rPr spc="190" dirty="0"/>
              <a:t>ЭТМД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11020" y="2319337"/>
            <a:ext cx="7715249" cy="326290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1020" y="5953239"/>
            <a:ext cx="7715249" cy="39338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593642" y="2319337"/>
            <a:ext cx="8248649" cy="6938823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85"/>
              </a:spcBef>
            </a:pPr>
            <a:r>
              <a:rPr sz="2800" spc="220" dirty="0">
                <a:solidFill>
                  <a:srgbClr val="FFFFFF"/>
                </a:solidFill>
                <a:latin typeface="Tahoma"/>
                <a:cs typeface="Tahoma"/>
              </a:rPr>
              <a:t>Создание</a:t>
            </a:r>
            <a:r>
              <a:rPr sz="2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165" dirty="0">
                <a:solidFill>
                  <a:srgbClr val="FFFFFF"/>
                </a:solidFill>
                <a:latin typeface="Tahoma"/>
                <a:cs typeface="Tahoma"/>
              </a:rPr>
              <a:t>реактивной </a:t>
            </a:r>
            <a:r>
              <a:rPr sz="2800" spc="185" dirty="0">
                <a:solidFill>
                  <a:srgbClr val="FFFFFF"/>
                </a:solidFill>
                <a:latin typeface="Tahoma"/>
                <a:cs typeface="Tahoma"/>
              </a:rPr>
              <a:t>тяги</a:t>
            </a:r>
            <a:r>
              <a:rPr sz="28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Tahoma"/>
                <a:cs typeface="Tahoma"/>
              </a:rPr>
              <a:t>в</a:t>
            </a:r>
            <a:r>
              <a:rPr sz="28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ru-RU" sz="2800" spc="265" dirty="0">
                <a:solidFill>
                  <a:srgbClr val="FFFFFF"/>
                </a:solidFill>
                <a:latin typeface="Tahoma"/>
                <a:cs typeface="Tahoma"/>
              </a:rPr>
              <a:t>электротермическом микродвигателе</a:t>
            </a:r>
            <a:r>
              <a:rPr sz="2800" spc="2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229" dirty="0">
                <a:solidFill>
                  <a:srgbClr val="FFFFFF"/>
                </a:solidFill>
                <a:latin typeface="Tahoma"/>
                <a:cs typeface="Tahoma"/>
              </a:rPr>
              <a:t>осуществляется</a:t>
            </a:r>
            <a:r>
              <a:rPr sz="28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95" dirty="0">
                <a:solidFill>
                  <a:srgbClr val="FFFFFF"/>
                </a:solidFill>
                <a:latin typeface="Tahoma"/>
                <a:cs typeface="Tahoma"/>
              </a:rPr>
              <a:t>в </a:t>
            </a:r>
            <a:r>
              <a:rPr sz="2800" spc="120" dirty="0">
                <a:solidFill>
                  <a:srgbClr val="FFFFFF"/>
                </a:solidFill>
                <a:latin typeface="Tahoma"/>
                <a:cs typeface="Tahoma"/>
              </a:rPr>
              <a:t>результате </a:t>
            </a:r>
            <a:r>
              <a:rPr sz="2800" spc="165" dirty="0">
                <a:solidFill>
                  <a:srgbClr val="FFFFFF"/>
                </a:solidFill>
                <a:latin typeface="Tahoma"/>
                <a:cs typeface="Tahoma"/>
              </a:rPr>
              <a:t>разложения</a:t>
            </a:r>
            <a:r>
              <a:rPr sz="280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229" dirty="0">
                <a:solidFill>
                  <a:srgbClr val="FFFFFF"/>
                </a:solidFill>
                <a:latin typeface="Tahoma"/>
                <a:cs typeface="Tahoma"/>
              </a:rPr>
              <a:t>аммиака </a:t>
            </a:r>
            <a:r>
              <a:rPr sz="2800" spc="125" dirty="0">
                <a:solidFill>
                  <a:srgbClr val="FFFFFF"/>
                </a:solidFill>
                <a:latin typeface="Tahoma"/>
                <a:cs typeface="Tahoma"/>
              </a:rPr>
              <a:t>на</a:t>
            </a:r>
            <a:r>
              <a:rPr sz="2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220" dirty="0">
                <a:solidFill>
                  <a:srgbClr val="FFFFFF"/>
                </a:solidFill>
                <a:latin typeface="Tahoma"/>
                <a:cs typeface="Tahoma"/>
              </a:rPr>
              <a:t>водород</a:t>
            </a:r>
            <a:r>
              <a:rPr sz="2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135" dirty="0">
                <a:solidFill>
                  <a:srgbClr val="FFFFFF"/>
                </a:solidFill>
                <a:latin typeface="Tahoma"/>
                <a:cs typeface="Tahoma"/>
              </a:rPr>
              <a:t>и</a:t>
            </a:r>
            <a:r>
              <a:rPr sz="2800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160" dirty="0">
                <a:solidFill>
                  <a:srgbClr val="FFFFFF"/>
                </a:solidFill>
                <a:latin typeface="Tahoma"/>
                <a:cs typeface="Tahoma"/>
              </a:rPr>
              <a:t>азот</a:t>
            </a:r>
            <a:r>
              <a:rPr sz="2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335" dirty="0">
                <a:solidFill>
                  <a:srgbClr val="FFFFFF"/>
                </a:solidFill>
                <a:latin typeface="Tahoma"/>
                <a:cs typeface="Tahoma"/>
              </a:rPr>
              <a:t>с </a:t>
            </a:r>
            <a:r>
              <a:rPr sz="2800" spc="190" dirty="0">
                <a:solidFill>
                  <a:srgbClr val="FFFFFF"/>
                </a:solidFill>
                <a:latin typeface="Tahoma"/>
                <a:cs typeface="Tahoma"/>
              </a:rPr>
              <a:t>увеличением</a:t>
            </a:r>
            <a:r>
              <a:rPr sz="2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229" dirty="0">
                <a:solidFill>
                  <a:srgbClr val="FFFFFF"/>
                </a:solidFill>
                <a:latin typeface="Tahoma"/>
                <a:cs typeface="Tahoma"/>
              </a:rPr>
              <a:t>объёма </a:t>
            </a:r>
            <a:r>
              <a:rPr sz="2800" spc="315" dirty="0">
                <a:solidFill>
                  <a:srgbClr val="FFFFFF"/>
                </a:solidFill>
                <a:latin typeface="Tahoma"/>
                <a:cs typeface="Tahoma"/>
              </a:rPr>
              <a:t>смеси</a:t>
            </a:r>
            <a:r>
              <a:rPr sz="28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Tahoma"/>
                <a:cs typeface="Tahoma"/>
              </a:rPr>
              <a:t>в</a:t>
            </a:r>
            <a:r>
              <a:rPr sz="2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19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r>
              <a:rPr lang="ru-RU" sz="2800" spc="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180" dirty="0" err="1">
                <a:solidFill>
                  <a:srgbClr val="FFFFFF"/>
                </a:solidFill>
                <a:latin typeface="Tahoma"/>
                <a:cs typeface="Tahoma"/>
              </a:rPr>
              <a:t>раза</a:t>
            </a:r>
            <a:r>
              <a:rPr sz="2800" spc="-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135" dirty="0">
                <a:solidFill>
                  <a:srgbClr val="FFFFFF"/>
                </a:solidFill>
                <a:latin typeface="Tahoma"/>
                <a:cs typeface="Tahoma"/>
              </a:rPr>
              <a:t>и</a:t>
            </a:r>
            <a:r>
              <a:rPr sz="2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235" dirty="0">
                <a:solidFill>
                  <a:srgbClr val="FFFFFF"/>
                </a:solidFill>
                <a:latin typeface="Tahoma"/>
                <a:cs typeface="Tahoma"/>
              </a:rPr>
              <a:t>последующем</a:t>
            </a:r>
            <a:endParaRPr sz="2800" dirty="0">
              <a:latin typeface="Tahoma"/>
              <a:cs typeface="Tahoma"/>
            </a:endParaRPr>
          </a:p>
          <a:p>
            <a:pPr marL="12700" marR="270510">
              <a:lnSpc>
                <a:spcPct val="100800"/>
              </a:lnSpc>
              <a:spcBef>
                <a:spcPts val="40"/>
              </a:spcBef>
            </a:pPr>
            <a:r>
              <a:rPr sz="2800" spc="225" dirty="0">
                <a:solidFill>
                  <a:srgbClr val="FFFFFF"/>
                </a:solidFill>
                <a:latin typeface="Tahoma"/>
                <a:cs typeface="Tahoma"/>
              </a:rPr>
              <a:t>выбросе</a:t>
            </a:r>
            <a:r>
              <a:rPr sz="2800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155" dirty="0">
                <a:solidFill>
                  <a:srgbClr val="FFFFFF"/>
                </a:solidFill>
                <a:latin typeface="Tahoma"/>
                <a:cs typeface="Tahoma"/>
              </a:rPr>
              <a:t>нагретой газовой</a:t>
            </a:r>
            <a:r>
              <a:rPr sz="2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315" dirty="0">
                <a:solidFill>
                  <a:srgbClr val="FFFFFF"/>
                </a:solidFill>
                <a:latin typeface="Tahoma"/>
                <a:cs typeface="Tahoma"/>
              </a:rPr>
              <a:t>смеси</a:t>
            </a:r>
            <a:r>
              <a:rPr sz="2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spc="175" dirty="0">
                <a:solidFill>
                  <a:srgbClr val="FFFFFF"/>
                </a:solidFill>
                <a:latin typeface="Tahoma"/>
                <a:cs typeface="Tahoma"/>
              </a:rPr>
              <a:t>через </a:t>
            </a:r>
            <a:r>
              <a:rPr lang="ru-RU" sz="2800" spc="185" dirty="0">
                <a:solidFill>
                  <a:srgbClr val="FFFFFF"/>
                </a:solidFill>
                <a:latin typeface="Tahoma"/>
                <a:cs typeface="Tahoma"/>
              </a:rPr>
              <a:t>реактивное</a:t>
            </a:r>
            <a:r>
              <a:rPr sz="2800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ru-RU" sz="2800" spc="195" dirty="0">
                <a:solidFill>
                  <a:srgbClr val="FFFFFF"/>
                </a:solidFill>
                <a:latin typeface="Tahoma"/>
                <a:cs typeface="Tahoma"/>
              </a:rPr>
              <a:t>сопло.</a:t>
            </a:r>
          </a:p>
          <a:p>
            <a:pPr marL="12700" marR="270510">
              <a:lnSpc>
                <a:spcPct val="100800"/>
              </a:lnSpc>
              <a:spcBef>
                <a:spcPts val="40"/>
              </a:spcBef>
            </a:pPr>
            <a:endParaRPr lang="ru-RU" sz="2800" spc="195" dirty="0">
              <a:solidFill>
                <a:srgbClr val="FFFFFF"/>
              </a:solidFill>
              <a:latin typeface="Tahoma"/>
              <a:cs typeface="Tahoma"/>
            </a:endParaRPr>
          </a:p>
          <a:p>
            <a:pPr marL="12700" marR="270510">
              <a:lnSpc>
                <a:spcPct val="100800"/>
              </a:lnSpc>
              <a:spcBef>
                <a:spcPts val="40"/>
              </a:spcBef>
            </a:pPr>
            <a:r>
              <a:rPr lang="ru-RU" sz="2800" spc="195" dirty="0">
                <a:solidFill>
                  <a:srgbClr val="FFFFFF"/>
                </a:solidFill>
                <a:latin typeface="Tahoma"/>
                <a:cs typeface="Tahoma"/>
              </a:rPr>
              <a:t>В данном случае использование катализатора обязательно так как при проведении реакции без катализатора, при температуре 900 ºC для достижения степени разложения аммиака выше 90% требуется значительное время (более 10^5 с) пребывания аммиака в камере. </a:t>
            </a:r>
          </a:p>
          <a:p>
            <a:pPr marL="12700" marR="270510">
              <a:lnSpc>
                <a:spcPct val="100800"/>
              </a:lnSpc>
              <a:spcBef>
                <a:spcPts val="40"/>
              </a:spcBef>
            </a:pP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object 2">
            <a:extLst>
              <a:ext uri="{FF2B5EF4-FFF2-40B4-BE49-F238E27FC236}">
                <a16:creationId xmlns:a16="http://schemas.microsoft.com/office/drawing/2014/main" id="{03F8A43A-86C5-4584-3F7E-02D2592760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310669" cy="103127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84431" y="647502"/>
            <a:ext cx="9829800" cy="1489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4800" spc="180" dirty="0">
                <a:latin typeface="Tahoma"/>
                <a:cs typeface="Tahoma"/>
              </a:rPr>
              <a:t>Использование полученного водорода</a:t>
            </a:r>
            <a:endParaRPr sz="4800" dirty="0">
              <a:latin typeface="Tahoma"/>
              <a:cs typeface="Taho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59880" y="647502"/>
            <a:ext cx="5828114" cy="8559202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9144140" y="9201594"/>
            <a:ext cx="7738109" cy="20320"/>
          </a:xfrm>
          <a:custGeom>
            <a:avLst/>
            <a:gdLst/>
            <a:ahLst/>
            <a:cxnLst/>
            <a:rect l="l" t="t" r="r" b="b"/>
            <a:pathLst>
              <a:path w="7738109" h="20320">
                <a:moveTo>
                  <a:pt x="7737830" y="1435"/>
                </a:moveTo>
                <a:lnTo>
                  <a:pt x="0" y="0"/>
                </a:lnTo>
                <a:lnTo>
                  <a:pt x="0" y="18719"/>
                </a:lnTo>
                <a:lnTo>
                  <a:pt x="7737830" y="20154"/>
                </a:lnTo>
                <a:lnTo>
                  <a:pt x="7737830" y="14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C89767-4363-133E-85DF-D8060F7481AA}"/>
              </a:ext>
            </a:extLst>
          </p:cNvPr>
          <p:cNvSpPr txBox="1"/>
          <p:nvPr/>
        </p:nvSpPr>
        <p:spPr>
          <a:xfrm>
            <a:off x="8997237" y="2466763"/>
            <a:ext cx="803191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Известно, что в жидком аммиаке содержится в 1,7 раз больше водорода, чем в жидком водороде. Транспорт водорода в аммиачном виде в 20 раз дешевле транспорта сжатого эквивалентного количества.</a:t>
            </a:r>
            <a:endParaRPr lang="en-US" sz="2400" dirty="0">
              <a:solidFill>
                <a:schemeClr val="bg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400" dirty="0">
              <a:solidFill>
                <a:schemeClr val="bg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40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Применение водорода, водородосодержащего топлива в стационарных или мобильных силовых агрегатах может быть реализовано, по крайней мере, в двух вариантах: сжигание в двигателях внутреннего сгорания (ДВС), газовых турбинах и использование в топливных элементах (ТЭ) с генерацией электрической энергии за счёт прямого преобразования химической энергии каталитического окисления водорода в электрическую. </a:t>
            </a:r>
            <a:endParaRPr lang="en-US" sz="2400" dirty="0">
              <a:solidFill>
                <a:schemeClr val="bg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России плодотворно в этом направлении работает Российский федеральный ядерный центр (РФЯЦ) и ЗАО «</a:t>
            </a:r>
            <a:r>
              <a:rPr lang="ru-RU" sz="24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Газомотор</a:t>
            </a:r>
            <a:r>
              <a:rPr lang="ru-RU" sz="2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» (г. Рыбинск).</a:t>
            </a:r>
            <a:endParaRPr lang="de-DE" sz="2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4856"/>
            <a:ext cx="18300700" cy="10304556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8300699" cy="10299699"/>
            <a:chOff x="466559" y="506152"/>
            <a:chExt cx="17355185" cy="9275445"/>
          </a:xfrm>
        </p:grpSpPr>
        <p:sp>
          <p:nvSpPr>
            <p:cNvPr id="4" name="object 4"/>
            <p:cNvSpPr/>
            <p:nvPr/>
          </p:nvSpPr>
          <p:spPr>
            <a:xfrm>
              <a:off x="466559" y="506152"/>
              <a:ext cx="17355185" cy="9275445"/>
            </a:xfrm>
            <a:custGeom>
              <a:avLst/>
              <a:gdLst/>
              <a:ahLst/>
              <a:cxnLst/>
              <a:rect l="l" t="t" r="r" b="b"/>
              <a:pathLst>
                <a:path w="17355185" h="9275445">
                  <a:moveTo>
                    <a:pt x="8677427" y="9275008"/>
                  </a:moveTo>
                  <a:lnTo>
                    <a:pt x="0" y="9275008"/>
                  </a:lnTo>
                  <a:lnTo>
                    <a:pt x="0" y="0"/>
                  </a:lnTo>
                  <a:lnTo>
                    <a:pt x="17354842" y="0"/>
                  </a:lnTo>
                  <a:lnTo>
                    <a:pt x="17354842" y="9275008"/>
                  </a:lnTo>
                  <a:lnTo>
                    <a:pt x="8677427" y="9275008"/>
                  </a:lnTo>
                  <a:close/>
                </a:path>
              </a:pathLst>
            </a:custGeom>
            <a:ln w="1871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8240" y="1060561"/>
              <a:ext cx="5558282" cy="81629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702549" y="958850"/>
            <a:ext cx="8167711" cy="73866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700" spc="220" dirty="0">
                <a:latin typeface="Tahoma"/>
                <a:cs typeface="Tahoma"/>
              </a:rPr>
              <a:t>Экологические</a:t>
            </a:r>
            <a:r>
              <a:rPr sz="4700" spc="-100" dirty="0">
                <a:latin typeface="Tahoma"/>
                <a:cs typeface="Tahoma"/>
              </a:rPr>
              <a:t> </a:t>
            </a:r>
            <a:r>
              <a:rPr sz="4700" spc="235" dirty="0">
                <a:latin typeface="Tahoma"/>
                <a:cs typeface="Tahoma"/>
              </a:rPr>
              <a:t>аспекты</a:t>
            </a:r>
            <a:endParaRPr sz="47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41751" y="2330960"/>
            <a:ext cx="7128509" cy="71663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67310">
              <a:lnSpc>
                <a:spcPts val="2850"/>
              </a:lnSpc>
              <a:spcBef>
                <a:spcPts val="215"/>
              </a:spcBef>
            </a:pPr>
            <a:r>
              <a:rPr lang="ru-RU" sz="2400" spc="114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промышленности реакцию разложения аммиака используют также для отчистки газов и вентиляционных выбросов.</a:t>
            </a:r>
            <a:endParaRPr lang="en-US" sz="2400" spc="114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67310">
              <a:lnSpc>
                <a:spcPts val="2850"/>
              </a:lnSpc>
              <a:spcBef>
                <a:spcPts val="215"/>
              </a:spcBef>
            </a:pPr>
            <a:endParaRPr lang="en-US" sz="2400" spc="114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67310">
              <a:lnSpc>
                <a:spcPts val="2850"/>
              </a:lnSpc>
              <a:spcBef>
                <a:spcPts val="215"/>
              </a:spcBef>
            </a:pPr>
            <a:r>
              <a:rPr lang="ru-RU" sz="2400" spc="114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некоторых регионах нашей страны достаточно остро стоит вопрос загрязнения атмосферы. Причиной этого служит большое количество предприятий, выбрасывающих в атмосферу вредные вещества, одним из которых является аммиак.</a:t>
            </a:r>
            <a:endParaRPr lang="en-US" sz="2400" spc="114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67310">
              <a:lnSpc>
                <a:spcPts val="2850"/>
              </a:lnSpc>
              <a:spcBef>
                <a:spcPts val="215"/>
              </a:spcBef>
            </a:pPr>
            <a:endParaRPr lang="en-US" sz="2400" spc="114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2700" marR="67310">
              <a:lnSpc>
                <a:spcPts val="2850"/>
              </a:lnSpc>
              <a:spcBef>
                <a:spcPts val="215"/>
              </a:spcBef>
            </a:pPr>
            <a:r>
              <a:rPr lang="ru-RU" sz="2400" spc="114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Так установки для отчистки </a:t>
            </a:r>
            <a:r>
              <a:rPr lang="ru-RU" sz="2400" spc="114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низкоконцентрированных</a:t>
            </a:r>
            <a:r>
              <a:rPr lang="ru-RU" sz="2400" spc="114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2400" spc="114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аммиакосодержащих</a:t>
            </a:r>
            <a:r>
              <a:rPr lang="ru-RU" sz="2400" spc="114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вентиляционных выбросов на производствах удобрений, а также предприятиях где используются аммиачно-холодильные установки предназначены в первую очередь для защиты атмосферы.</a:t>
            </a:r>
            <a:endParaRPr lang="ru-RU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C485EC37-745F-F75E-C86F-9729B2BBD5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93" y="-13448"/>
            <a:ext cx="18310669" cy="103127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9FA679-0808-C6D8-6565-E943C31ECCA3}"/>
              </a:ext>
            </a:extLst>
          </p:cNvPr>
          <p:cNvSpPr txBox="1"/>
          <p:nvPr/>
        </p:nvSpPr>
        <p:spPr>
          <a:xfrm>
            <a:off x="234950" y="196850"/>
            <a:ext cx="129477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800" b="1" kern="10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Физико-химические характеристики</a:t>
            </a:r>
            <a:br>
              <a:rPr lang="ru-RU" sz="4800" b="1" kern="10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4800" b="1" kern="100" dirty="0">
                <a:solidFill>
                  <a:schemeClr val="bg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каталитического разложения аммиака</a:t>
            </a:r>
            <a:endParaRPr lang="de-DE" sz="4800" b="1" kern="100" dirty="0">
              <a:solidFill>
                <a:schemeClr val="bg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Рисунок 5" descr="Изображение выглядит как текст, Шрифт, рукописный текст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6B97FC18-302E-59FC-9232-71C897D84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17" y="3514823"/>
            <a:ext cx="9222418" cy="4800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27B90D-27FF-3DC5-EA29-9A60A4B2DA8F}"/>
                  </a:ext>
                </a:extLst>
              </p:cNvPr>
              <p:cNvSpPr txBox="1"/>
              <p:nvPr/>
            </p:nvSpPr>
            <p:spPr>
              <a:xfrm>
                <a:off x="506765" y="2043807"/>
                <a:ext cx="7010400" cy="7742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Реакция обратимая и эндотермическая. </a:t>
                </a:r>
                <a:endPara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ru-RU" sz="20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Аммиак термодинамически нестабилен, и процесс его разложения на водород и азот становится заметен при температурах 1200–1300 ºС.</a:t>
                </a:r>
                <a:r>
                  <a:rPr lang="en-US" sz="20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ru-RU" sz="20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В присутствии катализатора на основе железа выше 400 ºС.</a:t>
                </a:r>
                <a:endPara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ru-RU" sz="20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Также без катализатора скорость разложения достаточно мала из-за кинетического барьера разрушения N-H связей.</a:t>
                </a:r>
                <a:endPara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ru-RU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ru-RU" sz="20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Равновесие реакции сдвигается в сторону азота и водорода при увеличении температуры и уменьшении давления.</a:t>
                </a:r>
                <a:endPara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ru-RU" sz="20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Константа равновесия реакции в зависимости от температуры: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2000" i="1" kern="100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ru-RU" sz="20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lg</m:t>
                          </m:r>
                        </m:fName>
                        <m:e>
                          <m:sSub>
                            <m:sSubPr>
                              <m:ctrlPr>
                                <a:rPr lang="de-DE" sz="20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ru-RU" sz="20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p</m:t>
                              </m:r>
                            </m:sub>
                          </m:sSub>
                          <m:r>
                            <a:rPr lang="en-US" sz="20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de-DE" sz="20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2074,8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0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</m:den>
                          </m:f>
                          <m:r>
                            <a:rPr lang="en-US" sz="20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2,4943</m:t>
                          </m:r>
                          <m:r>
                            <a:rPr lang="en-US" sz="20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de-DE" sz="20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lg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n-US" sz="20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T</m:t>
                              </m:r>
                              <m:r>
                                <a:rPr lang="en-US" sz="20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+1,8564</m:t>
                              </m:r>
                              <m:r>
                                <a:rPr lang="en-US" sz="20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de-DE" sz="20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sz="20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000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7</m:t>
                                  </m:r>
                                </m:sup>
                              </m:sSup>
                              <m:r>
                                <a:rPr lang="en-US" sz="20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∗</m:t>
                              </m:r>
                              <m:sSup>
                                <m:sSupPr>
                                  <m:ctrlPr>
                                    <a:rPr lang="de-DE" sz="20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T</m:t>
                                  </m:r>
                                </m:e>
                                <m:sup>
                                  <m:r>
                                    <a:rPr lang="en-US" sz="2000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+1,993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ru-RU" sz="2000" kern="10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ru-RU" sz="2000" kern="1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ru-RU" sz="2000" kern="100" dirty="0">
                    <a:solidFill>
                      <a:schemeClr val="bg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Кинетика разложения аммиака на железных катализаторах описываются уравнением Тёмкина-</a:t>
                </a:r>
                <a:r>
                  <a:rPr lang="ru-RU" sz="2000" kern="100" dirty="0" err="1">
                    <a:solidFill>
                      <a:schemeClr val="bg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Пыжева</a:t>
                </a:r>
                <a:r>
                  <a:rPr lang="ru-RU" sz="2000" kern="100" dirty="0">
                    <a:solidFill>
                      <a:schemeClr val="bg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kern="10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U</m:t>
                    </m:r>
                    <m:r>
                      <a:rPr lang="en-US" sz="2000" kern="10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de-DE" sz="20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0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∗</m:t>
                    </m:r>
                    <m:sSub>
                      <m:sSubPr>
                        <m:ctrlPr>
                          <a:rPr lang="de-DE" sz="20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a:rPr lang="en-US" sz="20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∗</m:t>
                    </m:r>
                    <m:sSup>
                      <m:sSupPr>
                        <m:ctrlPr>
                          <a:rPr lang="de-DE" sz="20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sz="20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e-DE" sz="2000" i="1" kern="10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de-DE" sz="2000" i="1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sSubSupPr>
                                    <m:ctrlPr>
                                      <a:rPr lang="de-DE" sz="2000" i="1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NH</m:t>
                                    </m:r>
                                    <m: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20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α</m:t>
                        </m:r>
                      </m:sup>
                    </m:sSup>
                    <m:r>
                      <a:rPr lang="en-US" sz="20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de-DE" sz="20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K</m:t>
                        </m:r>
                      </m:e>
                      <m:sub>
                        <m:r>
                          <a:rPr lang="en-US" sz="20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kern="10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∗</m:t>
                    </m:r>
                    <m:sSup>
                      <m:sSupPr>
                        <m:ctrlPr>
                          <a:rPr lang="de-DE" sz="20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sz="2000" i="1" kern="10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e-DE" sz="2000" i="1" kern="10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de-DE" sz="2000" i="1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NH</m:t>
                                    </m:r>
                                    <m: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  <m:sup>
                                    <m: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sSubSup>
                                  <m:sSubSupPr>
                                    <m:ctrlPr>
                                      <a:rPr lang="de-DE" sz="2000" i="1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P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20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0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α</m:t>
                        </m:r>
                      </m:sup>
                    </m:sSup>
                  </m:oMath>
                </a14:m>
                <a:endParaRPr lang="de-DE" sz="20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lang="de-DE" sz="20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27B90D-27FF-3DC5-EA29-9A60A4B2D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65" y="2043807"/>
                <a:ext cx="7010400" cy="7742632"/>
              </a:xfrm>
              <a:prstGeom prst="rect">
                <a:avLst/>
              </a:prstGeom>
              <a:blipFill>
                <a:blip r:embed="rId4"/>
                <a:stretch>
                  <a:fillRect l="-870" t="-394" r="-130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6881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9DCF69DA-3B5A-2562-ADEF-F336DFCFCA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300700" cy="10299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8B83FB-CF87-DE59-99B6-639C5B30887D}"/>
              </a:ext>
            </a:extLst>
          </p:cNvPr>
          <p:cNvSpPr txBox="1"/>
          <p:nvPr/>
        </p:nvSpPr>
        <p:spPr>
          <a:xfrm>
            <a:off x="1830077" y="120650"/>
            <a:ext cx="146405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Влияние катализаторов на разложение аммиака</a:t>
            </a:r>
            <a:endParaRPr lang="de-DE" sz="44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DC54E9-5454-70FD-95A0-F48DA8273067}"/>
                  </a:ext>
                </a:extLst>
              </p:cNvPr>
              <p:cNvSpPr txBox="1"/>
              <p:nvPr/>
            </p:nvSpPr>
            <p:spPr>
              <a:xfrm>
                <a:off x="539750" y="1263650"/>
                <a:ext cx="10896600" cy="4143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ru-RU" sz="2400" kern="100" dirty="0">
                    <a:solidFill>
                      <a:schemeClr val="bg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Катализаторы изменяют энергию активации разложения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kern="10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ru-RU" sz="2400" kern="100" dirty="0">
                    <a:solidFill>
                      <a:schemeClr val="bg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обеспечивая дополнительный путь для реакции. Зависимость константы скорости разложения от температуры выражается уравнением Аррениуса:</a:t>
                </a:r>
                <a:endParaRPr lang="de-DE" sz="2400" kern="10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n-US" sz="24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sz="2400" i="1" kern="10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de-DE" sz="2400" i="1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kern="10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de-DE" sz="2400" i="1" kern="10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de-DE" sz="24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sz="2400" i="1" kern="10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 kern="10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2400" i="1" kern="100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𝐴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2400" i="1" kern="10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𝑅𝑇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400" kern="1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endParaRPr lang="ru-RU" sz="2400" kern="1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ru-RU" sz="2400" kern="100" dirty="0">
                    <a:solidFill>
                      <a:schemeClr val="bg1"/>
                    </a:solidFill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Влияние некоторых металлических катализаторов на энергию активации:</a:t>
                </a:r>
                <a:endParaRPr lang="de-DE" sz="2400" kern="100" dirty="0">
                  <a:solidFill>
                    <a:schemeClr val="bg1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0DC54E9-5454-70FD-95A0-F48DA8273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" y="1263650"/>
                <a:ext cx="10896600" cy="4143698"/>
              </a:xfrm>
              <a:prstGeom prst="rect">
                <a:avLst/>
              </a:prstGeom>
              <a:blipFill>
                <a:blip r:embed="rId3"/>
                <a:stretch>
                  <a:fillRect l="-895" b="-235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Таблица 11">
                <a:extLst>
                  <a:ext uri="{FF2B5EF4-FFF2-40B4-BE49-F238E27FC236}">
                    <a16:creationId xmlns:a16="http://schemas.microsoft.com/office/drawing/2014/main" id="{436B3359-E6A3-F070-2E79-01594C8F25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87793"/>
                  </p:ext>
                </p:extLst>
              </p:nvPr>
            </p:nvGraphicFramePr>
            <p:xfrm>
              <a:off x="539750" y="6140450"/>
              <a:ext cx="10591800" cy="884238"/>
            </p:xfrm>
            <a:graphic>
              <a:graphicData uri="http://schemas.openxmlformats.org/drawingml/2006/table">
                <a:tbl>
                  <a:tblPr firstRow="1" firstCol="1" bandRow="1">
                    <a:tableStyleId>{616DA210-FB5B-4158-B5E0-FEB733F419BA}</a:tableStyleId>
                  </a:tblPr>
                  <a:tblGrid>
                    <a:gridCol w="1765300">
                      <a:extLst>
                        <a:ext uri="{9D8B030D-6E8A-4147-A177-3AD203B41FA5}">
                          <a16:colId xmlns:a16="http://schemas.microsoft.com/office/drawing/2014/main" val="4027259850"/>
                        </a:ext>
                      </a:extLst>
                    </a:gridCol>
                    <a:gridCol w="1765300">
                      <a:extLst>
                        <a:ext uri="{9D8B030D-6E8A-4147-A177-3AD203B41FA5}">
                          <a16:colId xmlns:a16="http://schemas.microsoft.com/office/drawing/2014/main" val="3689806283"/>
                        </a:ext>
                      </a:extLst>
                    </a:gridCol>
                    <a:gridCol w="1765300">
                      <a:extLst>
                        <a:ext uri="{9D8B030D-6E8A-4147-A177-3AD203B41FA5}">
                          <a16:colId xmlns:a16="http://schemas.microsoft.com/office/drawing/2014/main" val="2852881046"/>
                        </a:ext>
                      </a:extLst>
                    </a:gridCol>
                    <a:gridCol w="1765300">
                      <a:extLst>
                        <a:ext uri="{9D8B030D-6E8A-4147-A177-3AD203B41FA5}">
                          <a16:colId xmlns:a16="http://schemas.microsoft.com/office/drawing/2014/main" val="1282653379"/>
                        </a:ext>
                      </a:extLst>
                    </a:gridCol>
                    <a:gridCol w="1765300">
                      <a:extLst>
                        <a:ext uri="{9D8B030D-6E8A-4147-A177-3AD203B41FA5}">
                          <a16:colId xmlns:a16="http://schemas.microsoft.com/office/drawing/2014/main" val="3022368857"/>
                        </a:ext>
                      </a:extLst>
                    </a:gridCol>
                    <a:gridCol w="1765300">
                      <a:extLst>
                        <a:ext uri="{9D8B030D-6E8A-4147-A177-3AD203B41FA5}">
                          <a16:colId xmlns:a16="http://schemas.microsoft.com/office/drawing/2014/main" val="1310176790"/>
                        </a:ext>
                      </a:extLst>
                    </a:gridCol>
                  </a:tblGrid>
                  <a:tr h="15240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6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Катализатор</a:t>
                          </a:r>
                          <a:endParaRPr lang="de-DE" sz="16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6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Нет</a:t>
                          </a:r>
                          <a:endParaRPr lang="de-DE" sz="16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6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Вольфрам</a:t>
                          </a:r>
                          <a:endParaRPr lang="de-DE" sz="16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6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Оксид алюминия</a:t>
                          </a:r>
                          <a:endParaRPr lang="de-DE" sz="16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6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Железо</a:t>
                          </a:r>
                          <a:endParaRPr lang="de-DE" sz="16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6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Молибден</a:t>
                          </a:r>
                          <a:endParaRPr lang="de-DE" sz="16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3800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i="1" kern="1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  <m:r>
                                      <a:rPr lang="en-US" sz="2000" kern="10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lang="en-US" sz="2000" kern="10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кДж/</m:t>
                                </m:r>
                                <m:r>
                                  <a:rPr lang="ru-RU" sz="2000" kern="100">
                                    <a:solidFill>
                                      <a:schemeClr val="bg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моль</m:t>
                                </m:r>
                              </m:oMath>
                            </m:oMathPara>
                          </a14:m>
                          <a:endParaRPr lang="de-DE" sz="2000" kern="10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0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335</a:t>
                          </a:r>
                          <a:endParaRPr lang="de-DE" sz="20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0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163</a:t>
                          </a:r>
                          <a:endParaRPr lang="de-DE" sz="20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0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127</a:t>
                          </a:r>
                          <a:endParaRPr lang="de-DE" sz="20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000" kern="100">
                              <a:solidFill>
                                <a:schemeClr val="bg1"/>
                              </a:solidFill>
                              <a:effectLst/>
                            </a:rPr>
                            <a:t>149</a:t>
                          </a:r>
                          <a:endParaRPr lang="de-DE" sz="2000" kern="10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0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116</a:t>
                          </a:r>
                          <a:endParaRPr lang="de-DE" sz="20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24504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Таблица 11">
                <a:extLst>
                  <a:ext uri="{FF2B5EF4-FFF2-40B4-BE49-F238E27FC236}">
                    <a16:creationId xmlns:a16="http://schemas.microsoft.com/office/drawing/2014/main" id="{436B3359-E6A3-F070-2E79-01594C8F254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187793"/>
                  </p:ext>
                </p:extLst>
              </p:nvPr>
            </p:nvGraphicFramePr>
            <p:xfrm>
              <a:off x="539750" y="6140450"/>
              <a:ext cx="10591800" cy="884238"/>
            </p:xfrm>
            <a:graphic>
              <a:graphicData uri="http://schemas.openxmlformats.org/drawingml/2006/table">
                <a:tbl>
                  <a:tblPr firstRow="1" firstCol="1" bandRow="1">
                    <a:tableStyleId>{616DA210-FB5B-4158-B5E0-FEB733F419BA}</a:tableStyleId>
                  </a:tblPr>
                  <a:tblGrid>
                    <a:gridCol w="1765300">
                      <a:extLst>
                        <a:ext uri="{9D8B030D-6E8A-4147-A177-3AD203B41FA5}">
                          <a16:colId xmlns:a16="http://schemas.microsoft.com/office/drawing/2014/main" val="4027259850"/>
                        </a:ext>
                      </a:extLst>
                    </a:gridCol>
                    <a:gridCol w="1765300">
                      <a:extLst>
                        <a:ext uri="{9D8B030D-6E8A-4147-A177-3AD203B41FA5}">
                          <a16:colId xmlns:a16="http://schemas.microsoft.com/office/drawing/2014/main" val="3689806283"/>
                        </a:ext>
                      </a:extLst>
                    </a:gridCol>
                    <a:gridCol w="1765300">
                      <a:extLst>
                        <a:ext uri="{9D8B030D-6E8A-4147-A177-3AD203B41FA5}">
                          <a16:colId xmlns:a16="http://schemas.microsoft.com/office/drawing/2014/main" val="2852881046"/>
                        </a:ext>
                      </a:extLst>
                    </a:gridCol>
                    <a:gridCol w="1765300">
                      <a:extLst>
                        <a:ext uri="{9D8B030D-6E8A-4147-A177-3AD203B41FA5}">
                          <a16:colId xmlns:a16="http://schemas.microsoft.com/office/drawing/2014/main" val="1282653379"/>
                        </a:ext>
                      </a:extLst>
                    </a:gridCol>
                    <a:gridCol w="1765300">
                      <a:extLst>
                        <a:ext uri="{9D8B030D-6E8A-4147-A177-3AD203B41FA5}">
                          <a16:colId xmlns:a16="http://schemas.microsoft.com/office/drawing/2014/main" val="3022368857"/>
                        </a:ext>
                      </a:extLst>
                    </a:gridCol>
                    <a:gridCol w="1765300">
                      <a:extLst>
                        <a:ext uri="{9D8B030D-6E8A-4147-A177-3AD203B41FA5}">
                          <a16:colId xmlns:a16="http://schemas.microsoft.com/office/drawing/2014/main" val="1310176790"/>
                        </a:ext>
                      </a:extLst>
                    </a:gridCol>
                  </a:tblGrid>
                  <a:tr h="32543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6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Катализатор</a:t>
                          </a:r>
                          <a:endParaRPr lang="de-DE" sz="16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6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Нет</a:t>
                          </a:r>
                          <a:endParaRPr lang="de-DE" sz="16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6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Вольфрам</a:t>
                          </a:r>
                          <a:endParaRPr lang="de-DE" sz="16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6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Оксид алюминия</a:t>
                          </a:r>
                          <a:endParaRPr lang="de-DE" sz="16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6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Железо</a:t>
                          </a:r>
                          <a:endParaRPr lang="de-DE" sz="16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6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Молибден</a:t>
                          </a:r>
                          <a:endParaRPr lang="de-DE" sz="16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380027"/>
                      </a:ext>
                    </a:extLst>
                  </a:tr>
                  <a:tr h="558800"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90" t="-61957" r="-501034" b="-5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0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335</a:t>
                          </a:r>
                          <a:endParaRPr lang="de-DE" sz="20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0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163</a:t>
                          </a:r>
                          <a:endParaRPr lang="de-DE" sz="20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0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127</a:t>
                          </a:r>
                          <a:endParaRPr lang="de-DE" sz="20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000" kern="100">
                              <a:solidFill>
                                <a:schemeClr val="bg1"/>
                              </a:solidFill>
                              <a:effectLst/>
                            </a:rPr>
                            <a:t>149</a:t>
                          </a:r>
                          <a:endParaRPr lang="de-DE" sz="2000" kern="10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2000" kern="100" dirty="0">
                              <a:solidFill>
                                <a:schemeClr val="bg1"/>
                              </a:solidFill>
                              <a:effectLst/>
                            </a:rPr>
                            <a:t>116</a:t>
                          </a:r>
                          <a:endParaRPr lang="de-DE" sz="2000" kern="100" dirty="0">
                            <a:solidFill>
                              <a:schemeClr val="bg1"/>
                            </a:solidFill>
                            <a:effectLst/>
                            <a:latin typeface="Tahoma" panose="020B0604030504040204" pitchFamily="34" charset="0"/>
                            <a:ea typeface="Tahoma" panose="020B0604030504040204" pitchFamily="34" charset="0"/>
                            <a:cs typeface="Tahoma" panose="020B0604030504040204" pitchFamily="34" charset="0"/>
                          </a:endParaRPr>
                        </a:p>
                      </a:txBody>
                      <a:tcPr marL="68580" marR="68580" marT="0" marB="0">
                        <a:lnL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19191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24504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Рисунок 12" descr="Изображение выглядит как текст, диаграмма, линия, График&#10;&#10;Автоматически созданное описание">
            <a:extLst>
              <a:ext uri="{FF2B5EF4-FFF2-40B4-BE49-F238E27FC236}">
                <a16:creationId xmlns:a16="http://schemas.microsoft.com/office/drawing/2014/main" id="{897007F5-BA95-CEAC-59EA-2D3EA6FC7E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18852" y="5654099"/>
            <a:ext cx="4906010" cy="3895725"/>
          </a:xfrm>
          <a:prstGeom prst="rect">
            <a:avLst/>
          </a:prstGeom>
        </p:spPr>
      </p:pic>
      <p:pic>
        <p:nvPicPr>
          <p:cNvPr id="14" name="Рисунок 13" descr="Изображение выглядит как текст, зарисовка, диаграмма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661B274B-8719-6DC3-11DA-7850692731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18852" y="1263650"/>
            <a:ext cx="4753610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2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5DE956F9-375E-A884-D9B6-54E89DA3A7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2"/>
            <a:ext cx="18300700" cy="102997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1FA1E2-ACD8-ED2E-B945-07B83209A23A}"/>
              </a:ext>
            </a:extLst>
          </p:cNvPr>
          <p:cNvSpPr txBox="1"/>
          <p:nvPr/>
        </p:nvSpPr>
        <p:spPr>
          <a:xfrm>
            <a:off x="5044899" y="471864"/>
            <a:ext cx="82109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96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Заключение</a:t>
            </a:r>
            <a:endParaRPr lang="de-DE" sz="88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2A349D-3758-5FF2-C63A-1FA23DAE19A7}"/>
              </a:ext>
            </a:extLst>
          </p:cNvPr>
          <p:cNvSpPr txBox="1"/>
          <p:nvPr/>
        </p:nvSpPr>
        <p:spPr>
          <a:xfrm>
            <a:off x="5187950" y="3133911"/>
            <a:ext cx="770014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</a:rPr>
              <a:t>Каталитическое разложение аммиака является очень важным процессом в химической и экологической сферах. Понимание его принципов и применения позволяет не только оптимизировать производственные процессы, но и значительно улучшить состояние окружающей среды.</a:t>
            </a:r>
          </a:p>
        </p:txBody>
      </p:sp>
    </p:spTree>
    <p:extLst>
      <p:ext uri="{BB962C8B-B14F-4D97-AF65-F5344CB8AC3E}">
        <p14:creationId xmlns:p14="http://schemas.microsoft.com/office/powerpoint/2010/main" val="51546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830</Words>
  <Application>Microsoft Office PowerPoint</Application>
  <PresentationFormat>Произвольный</PresentationFormat>
  <Paragraphs>81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Aptos</vt:lpstr>
      <vt:lpstr>Cambria Math</vt:lpstr>
      <vt:lpstr>Tahoma</vt:lpstr>
      <vt:lpstr>Times New Roman</vt:lpstr>
      <vt:lpstr>Trebuchet MS</vt:lpstr>
      <vt:lpstr>Office Theme</vt:lpstr>
      <vt:lpstr>Каталитическое разложение аммиака</vt:lpstr>
      <vt:lpstr>Введение</vt:lpstr>
      <vt:lpstr>Презентация PowerPoint</vt:lpstr>
      <vt:lpstr>Презентация PowerPoint</vt:lpstr>
      <vt:lpstr>Современные промышленные катализаторы</vt:lpstr>
      <vt:lpstr>Аммиак как топливо в ЭТМД</vt:lpstr>
      <vt:lpstr>Использование полученного водорода</vt:lpstr>
      <vt:lpstr>Экологические аспекты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андрей леготин</dc:creator>
  <cp:lastModifiedBy>Леготин Андрей Александрович</cp:lastModifiedBy>
  <cp:revision>4</cp:revision>
  <dcterms:created xsi:type="dcterms:W3CDTF">2024-10-24T21:29:35Z</dcterms:created>
  <dcterms:modified xsi:type="dcterms:W3CDTF">2024-10-24T23:24:09Z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2024-10-24T00:00:00Z</vt:filetime>
  </property>
  <property fmtid="{D5CDD505-2E9C-101B-9397-08002B2CF9AE}" pid="3" name="Creator">
    <vt:lpwstr>Chromium</vt:lpwstr>
  </property>
  <property fmtid="{D5CDD505-2E9C-101B-9397-08002B2CF9AE}" pid="4" name="LastSaved">
    <vt:filetime>2024-10-24T00:00:00Z</vt:filetime>
  </property>
  <property fmtid="{D5CDD505-2E9C-101B-9397-08002B2CF9AE}" pid="5" name="Producer">
    <vt:lpwstr>GPL Ghostscript 10.04.0</vt:lpwstr>
  </property>
</Properties>
</file>