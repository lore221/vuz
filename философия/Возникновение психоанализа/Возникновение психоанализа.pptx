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5E363E-C9E8-936A-1A8E-3271D93AE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9C47129-FAAE-FF9F-CA29-3A91FF068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E07B13-1381-A032-268D-63D2BC30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6350-11D1-4E07-877E-52DDCB820D4A}" type="datetimeFigureOut">
              <a:rPr lang="de-DE" smtClean="0"/>
              <a:t>16.12.2023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BAA32C-0F6A-CAB8-2790-B68CDBEC0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A92FFC-6FBA-0B54-8B5F-80C815C40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76675-870C-4AB2-8EE9-F2E2FF5D48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76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572013-E4AC-583C-632D-B88774519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39C403-5DF6-6A8E-51A7-C7D462235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653E58-FCFB-A4CE-E957-001939EF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6350-11D1-4E07-877E-52DDCB820D4A}" type="datetimeFigureOut">
              <a:rPr lang="de-DE" smtClean="0"/>
              <a:t>16.12.2023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901443-93C1-3B8C-2ACB-028E5B381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8D4D02-9B0D-FCE6-C5B8-F54EA1BED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76675-870C-4AB2-8EE9-F2E2FF5D48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2605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7A23B6-9EA0-016B-6F91-5D3CC002C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27351F-560C-CA96-C487-EFDA00218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E96F03-C3ED-6DBD-ACC1-079EECB38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6350-11D1-4E07-877E-52DDCB820D4A}" type="datetimeFigureOut">
              <a:rPr lang="de-DE" smtClean="0"/>
              <a:t>16.12.2023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4C5077-9514-6BD5-CEC4-B9390418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87C860-EE16-E0EB-8ED2-59F94C14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76675-870C-4AB2-8EE9-F2E2FF5D48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628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7B23C-B73F-EA60-1865-E024BBC7B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18F692-F908-1502-E994-DA12C2251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27D2C29-6482-4EBC-D430-B6AF80464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FDC52E-DA93-40EE-7D42-FCD738CC6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6350-11D1-4E07-877E-52DDCB820D4A}" type="datetimeFigureOut">
              <a:rPr lang="de-DE" smtClean="0"/>
              <a:t>16.12.2023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CA85AE-5105-7815-960E-E3FD774E1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3707A8-9D88-E6DB-2759-B0B2AB8C9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76675-870C-4AB2-8EE9-F2E2FF5D48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78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422AAC-5602-2426-C161-24E1503CA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D511E41-AFF5-094B-2FAE-F8720423C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FB9D4F-ED11-AC1B-8542-1C9399F9F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7206DFE-4D40-A4A7-B43E-B17470618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AE17C07-5D71-967B-7A50-66B61E929F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BFE6DCA-FC14-3F54-24A2-210C9DC92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6350-11D1-4E07-877E-52DDCB820D4A}" type="datetimeFigureOut">
              <a:rPr lang="de-DE" smtClean="0"/>
              <a:t>16.12.2023</a:t>
            </a:fld>
            <a:endParaRPr lang="de-DE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4417888-48AC-1154-4AC4-96F198A6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999D3A3-1FBA-4902-E075-330903AA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76675-870C-4AB2-8EE9-F2E2FF5D48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844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86D6FB-423C-4FCD-711B-D37AF5B68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613348C-BE97-62DC-16E2-58DF0A0BA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6350-11D1-4E07-877E-52DDCB820D4A}" type="datetimeFigureOut">
              <a:rPr lang="de-DE" smtClean="0"/>
              <a:t>16.12.2023</a:t>
            </a:fld>
            <a:endParaRPr lang="de-DE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0894AB-5B67-2419-E5E5-113E61B17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073D96-CFF8-D1AC-9A3B-91FB07825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76675-870C-4AB2-8EE9-F2E2FF5D48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7003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E1FBF91-2693-4FDB-B868-46690E0B4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6350-11D1-4E07-877E-52DDCB820D4A}" type="datetimeFigureOut">
              <a:rPr lang="de-DE" smtClean="0"/>
              <a:t>16.12.2023</a:t>
            </a:fld>
            <a:endParaRPr lang="de-DE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4EFB3DC-759C-2364-7AFD-0EBB805A2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71DE2DD-A178-299B-520F-A2F847C9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76675-870C-4AB2-8EE9-F2E2FF5D48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7781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356C69-2BAA-6121-2864-50BB12A7A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74A10F-CAB9-F4DF-78BD-CAD43D7C1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6EC1A4-B38E-60A2-6F15-C48E48101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B90821-E994-22FB-BDB0-AEAE433D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6350-11D1-4E07-877E-52DDCB820D4A}" type="datetimeFigureOut">
              <a:rPr lang="de-DE" smtClean="0"/>
              <a:t>16.12.2023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E97A9A-EAA1-008B-C615-0C4BFA38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074637-160D-6BA4-579A-E94E1C5D3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76675-870C-4AB2-8EE9-F2E2FF5D48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4181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5B7C04-BF26-B8FB-5CAF-F378E00E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0C79D65-7608-D949-AEA3-04141D953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46A613-99B7-2203-E66C-AEAD380CE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275271-E7DC-8791-6FAB-E34D7830C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6350-11D1-4E07-877E-52DDCB820D4A}" type="datetimeFigureOut">
              <a:rPr lang="de-DE" smtClean="0"/>
              <a:t>16.12.2023</a:t>
            </a:fld>
            <a:endParaRPr lang="de-D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9160E7-1D35-2A70-8C5E-896FE403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BD427F-2245-B1CC-23EE-3E8404A0A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76675-870C-4AB2-8EE9-F2E2FF5D48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1610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068CF-240E-9F96-580E-EE35D34C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4B5C3DE-4462-31BA-768B-7DA7109B2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EF2C82-E724-6569-A13F-597314DD2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6350-11D1-4E07-877E-52DDCB820D4A}" type="datetimeFigureOut">
              <a:rPr lang="de-DE" smtClean="0"/>
              <a:t>16.12.2023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CBE18D-AD79-7901-7F18-827B51605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407BEE-EC13-C827-42B5-C7450CC2F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76675-870C-4AB2-8EE9-F2E2FF5D48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412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0F89C5-0C07-73A6-9F54-5F0F1D680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3790861-160D-56A3-1750-F343EFEBC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DCDA2C-543B-E5E0-D464-EEF091E66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26350-11D1-4E07-877E-52DDCB820D4A}" type="datetimeFigureOut">
              <a:rPr lang="de-DE" smtClean="0"/>
              <a:t>16.12.2023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F37469-0FD2-CBA4-DE5E-507197825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E8B700-DC77-396F-60DC-42A97CC50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E76675-870C-4AB2-8EE9-F2E2FF5D48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94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D93449-E215-0013-1ABE-AAB8FF6C8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de-D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00A6D7-659C-99E5-FBF0-8C5CDE758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de-D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9E2392-C264-3B71-98DA-6EA1EA9EC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26350-11D1-4E07-877E-52DDCB820D4A}" type="datetimeFigureOut">
              <a:rPr lang="de-DE" smtClean="0"/>
              <a:t>16.12.2023</a:t>
            </a:fld>
            <a:endParaRPr lang="de-D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261E5C-5631-9CDF-1AB1-9C6A25077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E17D01-EEC1-FAC7-B0AC-9A462DB42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76675-870C-4AB2-8EE9-F2E2FF5D484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765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37EA8-3F1B-DED4-E58F-1CA3BCC13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273" y="599796"/>
            <a:ext cx="7324530" cy="2543977"/>
          </a:xfrm>
        </p:spPr>
        <p:txBody>
          <a:bodyPr anchor="ctr">
            <a:normAutofit fontScale="90000"/>
          </a:bodyPr>
          <a:lstStyle/>
          <a:p>
            <a:pPr algn="l"/>
            <a:r>
              <a:rPr lang="ru-RU" sz="3600" kern="1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Возникновение психоанализа. </a:t>
            </a:r>
            <a:br>
              <a:rPr lang="ru-RU" sz="3600" kern="1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600" kern="1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З. Фрейд о сущности человека и культуры. </a:t>
            </a:r>
            <a:br>
              <a:rPr lang="ru-RU" sz="3600" kern="1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3600" kern="1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Развитие философии психоанализа в работах  Э. Фромма и К.Г Юнга</a:t>
            </a:r>
            <a:endParaRPr lang="de-DE" sz="3600" dirty="0">
              <a:latin typeface="Bahnschrift" panose="020B0502040204020203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9A7CD39-6954-84DF-BEEE-E74BB6474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273" y="4337107"/>
            <a:ext cx="4456925" cy="1592429"/>
          </a:xfrm>
        </p:spPr>
        <p:txBody>
          <a:bodyPr anchor="ctr">
            <a:normAutofit/>
          </a:bodyPr>
          <a:lstStyle/>
          <a:p>
            <a:pPr algn="l"/>
            <a:r>
              <a:rPr lang="ru-RU" sz="3200" dirty="0">
                <a:latin typeface="Bahnschrift" panose="020B0502040204020203" pitchFamily="34" charset="0"/>
              </a:rPr>
              <a:t>Доклад подготовлен</a:t>
            </a:r>
            <a:br>
              <a:rPr lang="ru-RU" sz="3200" dirty="0">
                <a:latin typeface="Bahnschrift" panose="020B0502040204020203" pitchFamily="34" charset="0"/>
              </a:rPr>
            </a:br>
            <a:r>
              <a:rPr lang="ru-RU" sz="3200" dirty="0">
                <a:latin typeface="Bahnschrift" panose="020B0502040204020203" pitchFamily="34" charset="0"/>
              </a:rPr>
              <a:t>студентом 124 группы</a:t>
            </a:r>
            <a:br>
              <a:rPr lang="ru-RU" sz="3200" dirty="0">
                <a:latin typeface="Bahnschrift" panose="020B0502040204020203" pitchFamily="34" charset="0"/>
              </a:rPr>
            </a:br>
            <a:r>
              <a:rPr lang="ru-RU" sz="3200" dirty="0" err="1">
                <a:latin typeface="Bahnschrift" panose="020B0502040204020203" pitchFamily="34" charset="0"/>
              </a:rPr>
              <a:t>Леготиным</a:t>
            </a:r>
            <a:r>
              <a:rPr lang="ru-RU" sz="3200" dirty="0">
                <a:latin typeface="Bahnschrift" panose="020B0502040204020203" pitchFamily="34" charset="0"/>
              </a:rPr>
              <a:t> Андреем</a:t>
            </a:r>
            <a:endParaRPr lang="de-DE" sz="3200" dirty="0">
              <a:latin typeface="Bahnschrift" panose="020B0502040204020203" pitchFamily="34" charset="0"/>
            </a:endParaRPr>
          </a:p>
        </p:txBody>
      </p:sp>
      <p:pic>
        <p:nvPicPr>
          <p:cNvPr id="1026" name="Picture 2" descr="An image representing the evolution of psychoanalytic philosophy">
            <a:extLst>
              <a:ext uri="{FF2B5EF4-FFF2-40B4-BE49-F238E27FC236}">
                <a16:creationId xmlns:a16="http://schemas.microsoft.com/office/drawing/2014/main" id="{C7A65DB4-5773-310C-8375-BD1656D2F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803" y="498526"/>
            <a:ext cx="4188135" cy="586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562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A2B51-F961-A20D-35F5-FE125BF65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 fontScale="90000"/>
          </a:bodyPr>
          <a:lstStyle/>
          <a:p>
            <a:r>
              <a:rPr lang="ru-RU" sz="6600" dirty="0">
                <a:latin typeface="Bahnschrift" panose="020B0502040204020203" pitchFamily="34" charset="0"/>
              </a:rPr>
              <a:t>Психоанализ</a:t>
            </a:r>
            <a:endParaRPr lang="de-DE" sz="6600" dirty="0">
              <a:latin typeface="Bahnschrift" panose="020B0502040204020203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35FADC8-136A-2BE4-0D11-AA88076ED0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90" r="28741"/>
          <a:stretch/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DA94C950-4E62-7E48-727E-9B6ADF5A7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333297"/>
            <a:ext cx="4840010" cy="384366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kern="1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Психоанализ — это психологическая теория, разработанная австрийским неврологом и психиатром Зигмундом Фрейдом в конце XIX — начале XX века. Она также является методом лечения психических нарушений, основанным на этой теории.</a:t>
            </a:r>
            <a:endParaRPr lang="de-DE" kern="1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38182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7" name="Rectangle 3086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1D6AF8-5DA8-7D79-F0C6-0F6CCBCD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ru-RU" sz="6000" dirty="0">
                <a:latin typeface="Bahnschrift" panose="020B0502040204020203" pitchFamily="34" charset="0"/>
              </a:rPr>
              <a:t>Фрейд</a:t>
            </a:r>
            <a:endParaRPr lang="de-DE" sz="6000" dirty="0">
              <a:latin typeface="Bahnschrif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8CCAD9-588D-CAB9-4368-0174B1DE1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Bahnschrift" panose="020B0502040204020203" pitchFamily="34" charset="0"/>
              </a:rPr>
              <a:t>Австрийский психолог, психоаналитик, психиатр и невролог. Фрейд наиболее известен как основатель психоанализа, который оказал значительное влияние на психологию, медицину, социологию, антропологию, литературу и искусство XX века.</a:t>
            </a:r>
            <a:endParaRPr lang="de-DE" dirty="0">
              <a:latin typeface="Bahnschrift" panose="020B0502040204020203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BEA36B4-FF93-DFD3-1C12-1BCC88CC9E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753"/>
          <a:stretch/>
        </p:blipFill>
        <p:spPr bwMode="auto">
          <a:xfrm>
            <a:off x="7199440" y="10"/>
            <a:ext cx="4992560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37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8B7386-F8CE-BABD-9B16-A8E439EF9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ru-RU" sz="6000" kern="1200" dirty="0">
                <a:solidFill>
                  <a:schemeClr val="tx1"/>
                </a:solidFill>
                <a:latin typeface="Bahnschrift" panose="020B0502040204020203" pitchFamily="34" charset="0"/>
              </a:rPr>
              <a:t>Эрих Фромм и Карл Юнг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544F117-174D-278E-4872-B0869A801D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22"/>
          <a:stretch/>
        </p:blipFill>
        <p:spPr bwMode="auto">
          <a:xfrm>
            <a:off x="198741" y="2410448"/>
            <a:ext cx="5803323" cy="389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EED4DE76-27D8-170D-F039-E797086DBA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7" r="-2" b="45471"/>
          <a:stretch/>
        </p:blipFill>
        <p:spPr bwMode="auto">
          <a:xfrm>
            <a:off x="6189934" y="2410448"/>
            <a:ext cx="5803323" cy="389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988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1" name="Rectangle 5126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B95C3C-B75E-0AA7-A879-7BED675DE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397" y="548464"/>
            <a:ext cx="4032990" cy="1800453"/>
          </a:xfrm>
        </p:spPr>
        <p:txBody>
          <a:bodyPr>
            <a:normAutofit fontScale="90000"/>
          </a:bodyPr>
          <a:lstStyle/>
          <a:p>
            <a:r>
              <a:rPr lang="ru-RU" sz="4800" dirty="0">
                <a:latin typeface="Bahnschrift" panose="020B0502040204020203" pitchFamily="34" charset="0"/>
              </a:rPr>
              <a:t>Школы психоанализа</a:t>
            </a:r>
            <a:endParaRPr lang="de-DE" sz="4800" dirty="0">
              <a:latin typeface="Bahnschrif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1E0808-9EE3-5269-7DD0-E9843AAFD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184" y="2962279"/>
            <a:ext cx="4348065" cy="3447852"/>
          </a:xfrm>
        </p:spPr>
        <p:txBody>
          <a:bodyPr>
            <a:noAutofit/>
          </a:bodyPr>
          <a:lstStyle/>
          <a:p>
            <a:r>
              <a:rPr lang="ru-RU" sz="2400" dirty="0" err="1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Фрейдианская</a:t>
            </a:r>
            <a:r>
              <a:rPr lang="ru-RU" sz="2400" dirty="0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 школа</a:t>
            </a:r>
          </a:p>
          <a:p>
            <a:r>
              <a:rPr lang="ru-RU" sz="2400" dirty="0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Школа эго-психологии</a:t>
            </a:r>
            <a:endParaRPr lang="ru-RU" sz="2400" dirty="0">
              <a:latin typeface="Bahnschrift" panose="020B0502040204020203" pitchFamily="34" charset="0"/>
              <a:ea typeface="Calibri" panose="020F0502020204030204" pitchFamily="34" charset="0"/>
            </a:endParaRPr>
          </a:p>
          <a:p>
            <a:r>
              <a:rPr lang="ru-RU" sz="2400" dirty="0" err="1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Интерперсональный</a:t>
            </a:r>
            <a:r>
              <a:rPr lang="ru-RU" sz="2400" dirty="0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 психоанализ</a:t>
            </a:r>
          </a:p>
          <a:p>
            <a:r>
              <a:rPr lang="ru-RU" sz="2400" dirty="0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Культурно-историческая школа</a:t>
            </a:r>
            <a:endParaRPr lang="ru-RU" sz="2400" dirty="0">
              <a:latin typeface="Bahnschrift" panose="020B0502040204020203" pitchFamily="34" charset="0"/>
              <a:ea typeface="Calibri" panose="020F0502020204030204" pitchFamily="34" charset="0"/>
            </a:endParaRPr>
          </a:p>
          <a:p>
            <a:r>
              <a:rPr lang="ru-RU" sz="2400" dirty="0">
                <a:latin typeface="Bahnschrift" panose="020B0502040204020203" pitchFamily="34" charset="0"/>
              </a:rPr>
              <a:t>Гуманистический психоанализ</a:t>
            </a:r>
            <a:endParaRPr lang="de-DE" sz="2400" dirty="0">
              <a:latin typeface="Bahnschrift" panose="020B0502040204020203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30D6528-2C6B-90FD-DC9D-D692900BEB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2" b="1"/>
          <a:stretch/>
        </p:blipFill>
        <p:spPr bwMode="auto">
          <a:xfrm>
            <a:off x="5010386" y="10"/>
            <a:ext cx="7181613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0802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8" name="Rectangle 6157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3B549-7874-AC1E-1C26-0935A3412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Bahnschrift" panose="020B0502040204020203" pitchFamily="34" charset="0"/>
              </a:rPr>
              <a:t>Бессознательное</a:t>
            </a:r>
            <a:endParaRPr lang="de-DE" sz="5400" dirty="0">
              <a:latin typeface="Bahnschrif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0416D5-62C4-FF44-3E5D-24F4983E4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effectLst/>
                <a:latin typeface="Bahnschrift" panose="020B0502040204020203" pitchFamily="34" charset="0"/>
                <a:ea typeface="Calibri" panose="020F0502020204030204" pitchFamily="34" charset="0"/>
              </a:rPr>
              <a:t>Центральным понятием психоанализа является бессознательное - часть психики, содержащая запретные желания, травмы и конфликты. Фрейд считал, что большинство наших мыслей, чувств и поведения уходят корнями в этот бессознательный уровень. </a:t>
            </a:r>
            <a:endParaRPr lang="de-DE" dirty="0">
              <a:latin typeface="Bahnschrift" panose="020B0502040204020203" pitchFamily="34" charset="0"/>
            </a:endParaRPr>
          </a:p>
        </p:txBody>
      </p:sp>
      <p:pic>
        <p:nvPicPr>
          <p:cNvPr id="6148" name="Picture 4" descr="Изображение выглядит как искусство, творческий подход&#10;&#10;Автоматически созданное описание">
            <a:extLst>
              <a:ext uri="{FF2B5EF4-FFF2-40B4-BE49-F238E27FC236}">
                <a16:creationId xmlns:a16="http://schemas.microsoft.com/office/drawing/2014/main" id="{87DF111C-F24F-12C0-E342-618D17E77B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5" r="5314"/>
          <a:stretch/>
        </p:blipFill>
        <p:spPr bwMode="auto">
          <a:xfrm>
            <a:off x="7199440" y="10"/>
            <a:ext cx="4992560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198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F4E2D-E5E4-A938-2D9F-401BC365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410" y="239303"/>
            <a:ext cx="6327680" cy="949792"/>
          </a:xfrm>
        </p:spPr>
        <p:txBody>
          <a:bodyPr anchor="b">
            <a:normAutofit fontScale="90000"/>
          </a:bodyPr>
          <a:lstStyle/>
          <a:p>
            <a:r>
              <a:rPr lang="ru-RU" sz="6000" dirty="0">
                <a:latin typeface="Bahnschrift" panose="020B0502040204020203" pitchFamily="34" charset="0"/>
              </a:rPr>
              <a:t>Ид, Эго и Суперэго</a:t>
            </a:r>
            <a:endParaRPr lang="de-DE" sz="6000" dirty="0">
              <a:latin typeface="Bahnschrif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39A349-ED62-84E2-4E79-6DA78948B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410" y="2137525"/>
            <a:ext cx="5107464" cy="3423520"/>
          </a:xfrm>
        </p:spPr>
        <p:txBody>
          <a:bodyPr>
            <a:normAutofit fontScale="92500"/>
          </a:bodyPr>
          <a:lstStyle/>
          <a:p>
            <a:pPr indent="0">
              <a:spcAft>
                <a:spcPts val="800"/>
              </a:spcAft>
              <a:buNone/>
            </a:pPr>
            <a:r>
              <a:rPr lang="ru-RU" sz="2000" kern="1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Ид (Оно) - источник психической энергии, аспект личности, включающий в себя преимущественно инстинкты.</a:t>
            </a:r>
            <a:endParaRPr lang="de-DE" sz="2000" kern="1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Aft>
                <a:spcPts val="800"/>
              </a:spcAft>
              <a:buNone/>
            </a:pPr>
            <a:r>
              <a:rPr lang="ru-RU" sz="2000" kern="1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Эго - структурный компонент личности, ответственный за направление и контролирование инстинктов.</a:t>
            </a:r>
            <a:endParaRPr lang="de-DE" sz="2000" kern="1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0">
              <a:spcAft>
                <a:spcPts val="800"/>
              </a:spcAft>
              <a:buNone/>
            </a:pPr>
            <a:r>
              <a:rPr lang="ru-RU" sz="2000" kern="1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Супер-эго  моральный аспект личности, ответственный за усваивание родительских и общественных ценностей и стандартов.</a:t>
            </a:r>
            <a:endParaRPr lang="de-DE" sz="2000" kern="1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de-DE" sz="19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148F4E-5FD9-7B74-A7F1-C53FA41238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29874" y="1692186"/>
            <a:ext cx="6859077" cy="35838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7822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86649D-84F0-125F-0775-5AA53783B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>
            <a:normAutofit/>
          </a:bodyPr>
          <a:lstStyle/>
          <a:p>
            <a:r>
              <a:rPr lang="ru-RU" sz="6600" dirty="0">
                <a:latin typeface="Bahnschrift" panose="020B0502040204020203" pitchFamily="34" charset="0"/>
              </a:rPr>
              <a:t>Вывод</a:t>
            </a:r>
            <a:endParaRPr lang="de-DE" sz="6600" dirty="0">
              <a:latin typeface="Bahnschrift" panose="020B0502040204020203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1CA4C22-E69B-A629-3869-0CD8420E94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9" r="4613"/>
          <a:stretch/>
        </p:blipFill>
        <p:spPr bwMode="auto"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EE4867E-9D39-69CA-A9C7-B0EE79160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86" y="2333297"/>
            <a:ext cx="6116548" cy="4159578"/>
          </a:xfrm>
        </p:spPr>
        <p:txBody>
          <a:bodyPr>
            <a:noAutofit/>
          </a:bodyPr>
          <a:lstStyle/>
          <a:p>
            <a:pPr indent="0" algn="just">
              <a:spcAft>
                <a:spcPts val="800"/>
              </a:spcAft>
              <a:buNone/>
            </a:pPr>
            <a:r>
              <a:rPr lang="ru-RU" sz="2000" kern="1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Таким образом, психоанализ представляет собой важную и влиятельную психологическую теорию и метод психотерапии, которые продолжают оказывать значительное влияние на современную психологию.</a:t>
            </a:r>
          </a:p>
          <a:p>
            <a:pPr indent="0" algn="just">
              <a:spcAft>
                <a:spcPts val="800"/>
              </a:spcAft>
              <a:buNone/>
            </a:pPr>
            <a:r>
              <a:rPr lang="ru-RU" sz="2000" kern="1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Хотя воздействие психоанализа на психиатрию и психиатров, придерживающихся этого метода, все еще значительно, его эффективность постоянно подвергается сомнению, особенно в контексте влияния научно обоснованной медицины и распространения альтернативных методов, таких как когнитивно-поведенческая терапия.</a:t>
            </a:r>
            <a:endParaRPr lang="de-DE" sz="2000" kern="100" dirty="0">
              <a:effectLst/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4729A686-9082-951E-1C18-8B39679B59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45147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275</Words>
  <Application>Microsoft Office PowerPoint</Application>
  <PresentationFormat>Широкоэкранный</PresentationFormat>
  <Paragraphs>22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Bahnschrift</vt:lpstr>
      <vt:lpstr>Calibri</vt:lpstr>
      <vt:lpstr>Calibri Light</vt:lpstr>
      <vt:lpstr>Тема Office</vt:lpstr>
      <vt:lpstr>Возникновение психоанализа.  З. Фрейд о сущности человека и культуры.  Развитие философии психоанализа в работах  Э. Фромма и К.Г Юнга</vt:lpstr>
      <vt:lpstr>Психоанализ</vt:lpstr>
      <vt:lpstr>Фрейд</vt:lpstr>
      <vt:lpstr>Эрих Фромм и Карл Юнг</vt:lpstr>
      <vt:lpstr>Школы психоанализа</vt:lpstr>
      <vt:lpstr>Бессознательное</vt:lpstr>
      <vt:lpstr>Ид, Эго и Суперэго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Возникновение психоанализа.  З. Фрейд о сущности человека и культуры.  Развитие философии психоанализа в работах  Э. Фромма и К.Г Юнга. </dc:title>
  <dc:creator>Леготин Андрей Александрович</dc:creator>
  <cp:lastModifiedBy>Леготин Андрей Александрович</cp:lastModifiedBy>
  <cp:revision>3</cp:revision>
  <dcterms:created xsi:type="dcterms:W3CDTF">2023-12-15T22:56:34Z</dcterms:created>
  <dcterms:modified xsi:type="dcterms:W3CDTF">2023-12-16T11:59:38Z</dcterms:modified>
</cp:coreProperties>
</file>