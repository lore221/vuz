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14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30314"/>
          </a:xfrm>
          <a:prstGeom prst="rect">
            <a:avLst/>
          </a:prstGeom>
          <a:solidFill>
            <a:srgbClr val="080E26"/>
          </a:solidFill>
          <a:ln w="13454">
            <a:solidFill>
              <a:srgbClr val="5651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3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97097" y="594479"/>
            <a:ext cx="7522607" cy="405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384"/>
              </a:lnSpc>
              <a:buNone/>
            </a:pPr>
            <a:r>
              <a:rPr lang="en-US" sz="5107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Тимуровцы, добровольцы, волонтёры: дань моде или духовная потребность</a:t>
            </a:r>
            <a:endParaRPr lang="en-US" sz="5107" dirty="0"/>
          </a:p>
        </p:txBody>
      </p:sp>
      <p:sp>
        <p:nvSpPr>
          <p:cNvPr id="6" name="Text 3"/>
          <p:cNvSpPr/>
          <p:nvPr/>
        </p:nvSpPr>
        <p:spPr>
          <a:xfrm>
            <a:off x="6297097" y="4971574"/>
            <a:ext cx="7522607" cy="13835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24"/>
              </a:lnSpc>
              <a:buNone/>
            </a:pPr>
            <a:r>
              <a:rPr lang="en-US" sz="1702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Добровольческая деятельность является неотъемлемой частью современного общества. Но является ли она всего лишь модой или удовлетворением духовной потребности? Давайте разберемся в этом вопросе.</a:t>
            </a:r>
            <a:endParaRPr lang="en-US" sz="1702" dirty="0"/>
          </a:p>
        </p:txBody>
      </p:sp>
      <p:sp>
        <p:nvSpPr>
          <p:cNvPr id="7" name="Text 4"/>
          <p:cNvSpPr/>
          <p:nvPr/>
        </p:nvSpPr>
        <p:spPr>
          <a:xfrm>
            <a:off x="6297097" y="6598206"/>
            <a:ext cx="7522607" cy="1037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24"/>
              </a:lnSpc>
              <a:buNone/>
            </a:pPr>
            <a:r>
              <a:rPr lang="en-US" sz="1702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Доклад подготовлен студентами 124 группы
Леготиным Андреем, Панузиным Кириллом, Власовым Михаилом и Егоровым Данилой</a:t>
            </a:r>
            <a:endParaRPr lang="en-US" sz="170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 w="13811">
            <a:solidFill>
              <a:srgbClr val="5651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0799" y="1343620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Волонтёры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4490799" y="2371249"/>
            <a:ext cx="9306401" cy="4514612"/>
          </a:xfrm>
          <a:prstGeom prst="roundRect">
            <a:avLst>
              <a:gd name="adj" fmla="val 2215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4726781" y="2607231"/>
            <a:ext cx="8834438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Это люди, которые добровольно и безвозмездно трудятся для блага общества или отдельных его представителей. Само слово «волонтёр» пришло в русский язык из французского, а французское volontaire в свою очередь произошло от латинского слова voluntaris, добровольный.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726781" y="4162068"/>
            <a:ext cx="8834438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Волонтёр — это доброволец, который бесплатно тратит свои силы и время ради того, чтобы оказать помощь конкретному нуждающемуся в ней человеку или выполнить какое-нибудь общественно полезное дело. Этим волонтерство отличается от благотворительности, которая подразумевает внесение денежных пожертвований на аналогичные цели. Волонтёр может тратить на свою деятельность личные средства, но самое главное — он вкладывает свои усилия.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 w="13811">
            <a:solidFill>
              <a:srgbClr val="5651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0799" y="656987"/>
            <a:ext cx="775716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ru-RU" sz="4374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Виды </a:t>
            </a:r>
            <a:r>
              <a:rPr lang="ru-RU" sz="4374" dirty="0" err="1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волонтёрства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9121854" y="1684615"/>
            <a:ext cx="44410" cy="5887998"/>
          </a:xfrm>
          <a:prstGeom prst="roundRect">
            <a:avLst>
              <a:gd name="adj" fmla="val 225151"/>
            </a:avLst>
          </a:prstGeom>
          <a:solidFill>
            <a:srgbClr val="303B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9393972" y="2085915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303B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8894028" y="1858208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9067740" y="1899880"/>
            <a:ext cx="15240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624" dirty="0"/>
          </a:p>
        </p:txBody>
      </p:sp>
      <p:sp>
        <p:nvSpPr>
          <p:cNvPr id="10" name="Text 7"/>
          <p:cNvSpPr/>
          <p:nvPr/>
        </p:nvSpPr>
        <p:spPr>
          <a:xfrm>
            <a:off x="10366058" y="1906786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социальное</a:t>
            </a:r>
            <a:endParaRPr lang="en-US" sz="2187" dirty="0"/>
          </a:p>
        </p:txBody>
      </p:sp>
      <p:sp>
        <p:nvSpPr>
          <p:cNvPr id="11" name="Shape 8"/>
          <p:cNvSpPr/>
          <p:nvPr/>
        </p:nvSpPr>
        <p:spPr>
          <a:xfrm>
            <a:off x="8116431" y="3196769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303B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8894028" y="2969062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9041070" y="3010733"/>
            <a:ext cx="20574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624" dirty="0"/>
          </a:p>
        </p:txBody>
      </p:sp>
      <p:sp>
        <p:nvSpPr>
          <p:cNvPr id="14" name="Text 11"/>
          <p:cNvSpPr/>
          <p:nvPr/>
        </p:nvSpPr>
        <p:spPr>
          <a:xfrm>
            <a:off x="5699998" y="3017639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734"/>
              </a:lnSpc>
              <a:buNone/>
            </a:pPr>
            <a:r>
              <a:rPr lang="en-US" sz="2187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медицинское</a:t>
            </a:r>
            <a:endParaRPr lang="en-US" sz="2187" dirty="0"/>
          </a:p>
        </p:txBody>
      </p:sp>
      <p:sp>
        <p:nvSpPr>
          <p:cNvPr id="15" name="Shape 12"/>
          <p:cNvSpPr/>
          <p:nvPr/>
        </p:nvSpPr>
        <p:spPr>
          <a:xfrm>
            <a:off x="9393972" y="4196536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303B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8894028" y="3968829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9052500" y="4010501"/>
            <a:ext cx="1828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624" dirty="0"/>
          </a:p>
        </p:txBody>
      </p:sp>
      <p:sp>
        <p:nvSpPr>
          <p:cNvPr id="18" name="Text 15"/>
          <p:cNvSpPr/>
          <p:nvPr/>
        </p:nvSpPr>
        <p:spPr>
          <a:xfrm>
            <a:off x="10366058" y="4017407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экологическое</a:t>
            </a:r>
            <a:endParaRPr lang="en-US" sz="2187" dirty="0"/>
          </a:p>
        </p:txBody>
      </p:sp>
      <p:sp>
        <p:nvSpPr>
          <p:cNvPr id="19" name="Shape 16"/>
          <p:cNvSpPr/>
          <p:nvPr/>
        </p:nvSpPr>
        <p:spPr>
          <a:xfrm>
            <a:off x="8116431" y="5196423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303B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7"/>
          <p:cNvSpPr/>
          <p:nvPr/>
        </p:nvSpPr>
        <p:spPr>
          <a:xfrm>
            <a:off x="8894028" y="4968716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9041070" y="5010388"/>
            <a:ext cx="20574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2624" dirty="0"/>
          </a:p>
        </p:txBody>
      </p:sp>
      <p:sp>
        <p:nvSpPr>
          <p:cNvPr id="22" name="Text 19"/>
          <p:cNvSpPr/>
          <p:nvPr/>
        </p:nvSpPr>
        <p:spPr>
          <a:xfrm>
            <a:off x="5699998" y="5017294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734"/>
              </a:lnSpc>
              <a:buNone/>
            </a:pPr>
            <a:r>
              <a:rPr lang="en-US" sz="2187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культурное</a:t>
            </a:r>
            <a:endParaRPr lang="en-US" sz="2187" dirty="0"/>
          </a:p>
        </p:txBody>
      </p:sp>
      <p:sp>
        <p:nvSpPr>
          <p:cNvPr id="23" name="Shape 20"/>
          <p:cNvSpPr/>
          <p:nvPr/>
        </p:nvSpPr>
        <p:spPr>
          <a:xfrm>
            <a:off x="9393972" y="6196310"/>
            <a:ext cx="777597" cy="44410"/>
          </a:xfrm>
          <a:prstGeom prst="roundRect">
            <a:avLst>
              <a:gd name="adj" fmla="val 225151"/>
            </a:avLst>
          </a:prstGeom>
          <a:solidFill>
            <a:srgbClr val="303B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1"/>
          <p:cNvSpPr/>
          <p:nvPr/>
        </p:nvSpPr>
        <p:spPr>
          <a:xfrm>
            <a:off x="8894028" y="5968603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283157"/>
          </a:solidFill>
          <a:ln w="13811">
            <a:solidFill>
              <a:srgbClr val="303B6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/>
          <p:nvPr/>
        </p:nvSpPr>
        <p:spPr>
          <a:xfrm>
            <a:off x="9048690" y="6010275"/>
            <a:ext cx="19050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2624" dirty="0"/>
          </a:p>
        </p:txBody>
      </p:sp>
      <p:sp>
        <p:nvSpPr>
          <p:cNvPr id="26" name="Text 23"/>
          <p:cNvSpPr/>
          <p:nvPr/>
        </p:nvSpPr>
        <p:spPr>
          <a:xfrm>
            <a:off x="10366058" y="6017181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ECE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спортивное</a:t>
            </a:r>
            <a:endParaRPr lang="en-US" sz="218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 w="13811">
            <a:solidFill>
              <a:srgbClr val="5651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1218605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Тимуровцы</a:t>
            </a:r>
            <a:endParaRPr lang="en-US" sz="4374" dirty="0"/>
          </a:p>
        </p:txBody>
      </p:sp>
      <p:sp>
        <p:nvSpPr>
          <p:cNvPr id="6" name="Text 3"/>
          <p:cNvSpPr/>
          <p:nvPr/>
        </p:nvSpPr>
        <p:spPr>
          <a:xfrm>
            <a:off x="833199" y="2246233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Это движение пользовалось огромной популярностью у советской детворы, чему немало способствовал фильм «Тимур и его команда», вышедший в 1940 году вслед за одноименной повестью А. Гайдара.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33199" y="3562350"/>
            <a:ext cx="7477601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Тимуровцы в Великую Отечественную войну оказали неоценимую помощь советским гражданам в тылу.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33199" y="4523065"/>
            <a:ext cx="7477601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После войны тимуровцы, помимо привычной помощи семьям фронтовиков, инвалидов и пенсионеров, вместе с «красными следопытами» занимались изыскательской и краеведческой деятельностью – искали и впоследствии облагораживали места захоронений советских военнослужащих на территории СССР, восстанавливали боевые биографии своих земляков и целых воинских подразделений.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31029"/>
          </a:xfrm>
          <a:prstGeom prst="rect">
            <a:avLst/>
          </a:prstGeom>
          <a:solidFill>
            <a:srgbClr val="080E26"/>
          </a:solidFill>
          <a:ln w="10835">
            <a:solidFill>
              <a:srgbClr val="5651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705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1113" y="2647950"/>
            <a:ext cx="8046720" cy="5425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273"/>
              </a:lnSpc>
              <a:buNone/>
            </a:pPr>
            <a:r>
              <a:rPr lang="en-US" sz="3418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Дань моде или духовная потребность</a:t>
            </a:r>
            <a:endParaRPr lang="en-US" sz="3418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113" y="3646170"/>
            <a:ext cx="3912156" cy="3912156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513" y="3646170"/>
            <a:ext cx="3912156" cy="3912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 w="10954">
            <a:solidFill>
              <a:srgbClr val="5651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>
              <a:alpha val="8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3112056" y="487680"/>
            <a:ext cx="3539371" cy="55304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355"/>
              </a:lnSpc>
              <a:buNone/>
            </a:pPr>
            <a:r>
              <a:rPr lang="en-US" sz="3484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Заключение</a:t>
            </a:r>
            <a:endParaRPr lang="en-US" sz="3484" dirty="0"/>
          </a:p>
        </p:txBody>
      </p:sp>
      <p:sp>
        <p:nvSpPr>
          <p:cNvPr id="7" name="Text 4"/>
          <p:cNvSpPr/>
          <p:nvPr/>
        </p:nvSpPr>
        <p:spPr>
          <a:xfrm>
            <a:off x="3112056" y="1306116"/>
            <a:ext cx="8406170" cy="8490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30"/>
              </a:lnSpc>
              <a:buNone/>
            </a:pPr>
            <a:r>
              <a:rPr lang="en-US" sz="1393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Таким образом, волонтёрство не является данью моде в традиционном смысле этого слова, но его популярность может быть связана с определенными социальными и культурными изменениями.</a:t>
            </a:r>
            <a:endParaRPr lang="en-US" sz="1393" dirty="0"/>
          </a:p>
        </p:txBody>
      </p:sp>
      <p:sp>
        <p:nvSpPr>
          <p:cNvPr id="8" name="Text 5"/>
          <p:cNvSpPr/>
          <p:nvPr/>
        </p:nvSpPr>
        <p:spPr>
          <a:xfrm>
            <a:off x="3112056" y="2354223"/>
            <a:ext cx="8406170" cy="1132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30"/>
              </a:lnSpc>
              <a:buNone/>
            </a:pPr>
            <a:r>
              <a:rPr lang="en-US" sz="1393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Волонтёрство стало не только добровольной деятельностью, но и важной модной тенденцией. В наше время все больше людей привлекает возможность помочь другим и внести свой вклад в общество. Волонтёрские программы и организации становятся популярными, и многие из нас стремятся стать частью этой новой моды.</a:t>
            </a:r>
            <a:endParaRPr lang="en-US" sz="139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056" y="3685342"/>
            <a:ext cx="8406170" cy="40565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Office PowerPoint</Application>
  <PresentationFormat>Произвольный</PresentationFormat>
  <Paragraphs>31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Epilogue</vt:lpstr>
      <vt:lpstr>Fraunces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Леготин Андрей Александрович</cp:lastModifiedBy>
  <cp:revision>2</cp:revision>
  <dcterms:created xsi:type="dcterms:W3CDTF">2023-12-16T23:27:34Z</dcterms:created>
  <dcterms:modified xsi:type="dcterms:W3CDTF">2023-12-16T23:32:24Z</dcterms:modified>
</cp:coreProperties>
</file>