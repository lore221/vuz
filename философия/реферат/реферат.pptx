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4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BB7495-FD88-97E5-3799-F2E66F517A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8FB3C14-2468-8D2D-7FBB-0838A294F9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de-DE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9614F9-3AE5-BDBE-83E1-8F8F90F93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B7F95-0326-41D2-90DD-70D35B61683B}" type="datetimeFigureOut">
              <a:rPr lang="de-DE" smtClean="0"/>
              <a:t>28.11.2023</a:t>
            </a:fld>
            <a:endParaRPr lang="de-DE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64B88FF-442A-74A0-AFF3-066491FE4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469E3B-9420-87A8-4FB3-3CF553373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64150-E991-47F2-9F52-20883B223A7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7072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E6B715-D6A3-BA28-F9E3-6AC4256C0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5C488F-5F20-6BBC-AC40-9FF2D12B9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DE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B9AE1C-2B31-D9C0-5CF2-B642692E6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B7F95-0326-41D2-90DD-70D35B61683B}" type="datetimeFigureOut">
              <a:rPr lang="de-DE" smtClean="0"/>
              <a:t>28.11.2023</a:t>
            </a:fld>
            <a:endParaRPr lang="de-DE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FE1BD2-AF70-770A-C407-F0A75CAC9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505712-DE61-A316-502B-795414D1C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64150-E991-47F2-9F52-20883B223A7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679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27426A-77A9-E0DE-9F04-3352D77D7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2BBC6AB-F94D-0994-D163-957103F0B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01FECB-8C80-C493-3680-6DAE2A9D8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B7F95-0326-41D2-90DD-70D35B61683B}" type="datetimeFigureOut">
              <a:rPr lang="de-DE" smtClean="0"/>
              <a:t>28.11.2023</a:t>
            </a:fld>
            <a:endParaRPr lang="de-DE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C068D8-22EE-C9FD-704A-0A360A6D8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CBE5D3-07CE-1441-2912-D2E6B2BFD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64150-E991-47F2-9F52-20883B223A7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5710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0748F2-AAF8-1A7A-599B-5B72214A8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ED8CD2-FF40-6FEB-1893-8E66A91B45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DE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57EB092-FB3C-9AAD-FB14-BFDB8F3042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DE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59ACE0F-6529-7C20-0AEC-1717B87E3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B7F95-0326-41D2-90DD-70D35B61683B}" type="datetimeFigureOut">
              <a:rPr lang="de-DE" smtClean="0"/>
              <a:t>28.11.2023</a:t>
            </a:fld>
            <a:endParaRPr lang="de-DE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0B4C1D8-FDDD-B724-CA33-581547419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3C3E9E3-981A-5BD3-5A66-657CE2CAD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64150-E991-47F2-9F52-20883B223A7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6251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D67FFA-F53D-D5CB-E44A-3128508EF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48B2DA1-A959-57A3-EED0-79CB35138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91486E7-A27B-5476-646E-36DB990449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DE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2199A-2647-8562-CEA8-0394632F99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20C966A-28E9-A79E-BDA9-5519DC8C84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DE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54AE4C9-FAF9-047D-4373-B2EDE5E6E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B7F95-0326-41D2-90DD-70D35B61683B}" type="datetimeFigureOut">
              <a:rPr lang="de-DE" smtClean="0"/>
              <a:t>28.11.2023</a:t>
            </a:fld>
            <a:endParaRPr lang="de-DE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4A0B41A-AD2F-CBBF-2ECD-4D9C85095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CC18325-3982-0D8B-09EA-D4E81C9FF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64150-E991-47F2-9F52-20883B223A7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0681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2C9724-AD6D-E875-637F-F435ED085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60398AA-9256-49B4-AF59-9490C2AAA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B7F95-0326-41D2-90DD-70D35B61683B}" type="datetimeFigureOut">
              <a:rPr lang="de-DE" smtClean="0"/>
              <a:t>28.11.2023</a:t>
            </a:fld>
            <a:endParaRPr lang="de-DE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C22855D-F930-754B-243A-213FF38EB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90CEE90-FC49-75DA-4217-D9300F511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64150-E991-47F2-9F52-20883B223A7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2102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3A605C5-E337-378D-DBD2-9AB05D9D0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B7F95-0326-41D2-90DD-70D35B61683B}" type="datetimeFigureOut">
              <a:rPr lang="de-DE" smtClean="0"/>
              <a:t>28.11.2023</a:t>
            </a:fld>
            <a:endParaRPr lang="de-DE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642A7B3-113A-5E8D-6E50-961D36389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7836984-E897-7D96-AD48-E6D3D4B2C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64150-E991-47F2-9F52-20883B223A7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7522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DE7DA2-2C82-58CA-7137-83315722C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25E717-4CE9-801F-E64E-0EC9A6B7F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DE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10E72B-9E86-073F-6B78-BF845F3D8C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DD8C25E-3A6A-4C5B-4DCF-F3B5DBE9F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B7F95-0326-41D2-90DD-70D35B61683B}" type="datetimeFigureOut">
              <a:rPr lang="de-DE" smtClean="0"/>
              <a:t>28.11.2023</a:t>
            </a:fld>
            <a:endParaRPr lang="de-DE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4089D87-25DD-24B2-052C-E75457D34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C708DFC-8DEA-B966-61C8-112927991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64150-E991-47F2-9F52-20883B223A7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2738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72DED5-3D38-D515-84A9-8DE265C56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58390B1-C426-FC0D-E906-E7AC6C388D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AE59124-9B0B-0201-1A71-FECFA7ED62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63B2247-F39A-62BA-D101-4EB216BD0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B7F95-0326-41D2-90DD-70D35B61683B}" type="datetimeFigureOut">
              <a:rPr lang="de-DE" smtClean="0"/>
              <a:t>28.11.2023</a:t>
            </a:fld>
            <a:endParaRPr lang="de-DE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F52BFF8-86E8-CC00-361A-FDDD46D57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4EDCD31-986F-A17C-ADFF-9E4FD890D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64150-E991-47F2-9F52-20883B223A7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4379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C3A143-4179-31E8-8A35-A283074C4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E9EAB1B-BD57-8C34-CF4F-FCAD069936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DE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A4DFD9E-1011-BAED-CF13-5609C724D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B7F95-0326-41D2-90DD-70D35B61683B}" type="datetimeFigureOut">
              <a:rPr lang="de-DE" smtClean="0"/>
              <a:t>28.11.2023</a:t>
            </a:fld>
            <a:endParaRPr lang="de-DE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40D3CF-4CBE-73B0-65A3-E89D41E9B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845AA9-38DF-C71D-2B6E-79AA6E5B7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64150-E991-47F2-9F52-20883B223A7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8105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E4F8277-7E8C-B634-FE23-8A6EF5891B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8411495-DC07-7609-A29A-364D3FB27B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DE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82EAC2-4FC8-947E-103D-D5538AB81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B7F95-0326-41D2-90DD-70D35B61683B}" type="datetimeFigureOut">
              <a:rPr lang="de-DE" smtClean="0"/>
              <a:t>28.11.2023</a:t>
            </a:fld>
            <a:endParaRPr lang="de-DE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131F922-555B-3FC0-51C3-A91190B3C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A932C2-E1CE-5B90-6AD0-F320B0C9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64150-E991-47F2-9F52-20883B223A7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117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12A6F8-4546-B777-4841-A9C2B170E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5C7A92-76F2-F4E5-6456-10E865CF1B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DE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BBF5482-78FF-ECEA-5D9E-A62E0A68DE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AB7F95-0326-41D2-90DD-70D35B61683B}" type="datetimeFigureOut">
              <a:rPr lang="de-DE" smtClean="0"/>
              <a:t>28.11.2023</a:t>
            </a:fld>
            <a:endParaRPr lang="de-DE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E8652AF-BAF5-C311-E8ED-1BD734DC4A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112D35-C305-617E-18C7-37D6AB1C8B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64150-E991-47F2-9F52-20883B223A7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9340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3FCFAD-9CC9-1D40-64E4-257E711860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b="6250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6A380F-4E1A-F974-3021-C42BA828DA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ru-RU" sz="42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«ГУМАНИСТИЧЕСКИЙ ПСИХОАНАЛИЗ» Э.ФРОММА ОБ АБЕРРАЦИЯХ ЧЕЛОВЕЧЕСКОГО ПОВЕДЕНИЯ.</a:t>
            </a:r>
            <a:endParaRPr lang="de-DE" sz="4200" dirty="0">
              <a:solidFill>
                <a:srgbClr val="FFFFFF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DE181B9-F3D1-C464-778B-FF14278B35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24962" y="5585533"/>
            <a:ext cx="9144000" cy="1098395"/>
          </a:xfrm>
        </p:spPr>
        <p:txBody>
          <a:bodyPr>
            <a:normAutofit/>
          </a:bodyPr>
          <a:lstStyle/>
          <a:p>
            <a:pPr algn="r"/>
            <a:r>
              <a:rPr lang="ru-RU" dirty="0">
                <a:solidFill>
                  <a:srgbClr val="FFFFFF"/>
                </a:solidFill>
              </a:rPr>
              <a:t>Реферат подготовлен</a:t>
            </a:r>
            <a:br>
              <a:rPr lang="ru-RU" dirty="0">
                <a:solidFill>
                  <a:srgbClr val="FFFFFF"/>
                </a:solidFill>
              </a:rPr>
            </a:br>
            <a:r>
              <a:rPr lang="ru-RU" dirty="0">
                <a:solidFill>
                  <a:srgbClr val="FFFFFF"/>
                </a:solidFill>
              </a:rPr>
              <a:t>студентом 124 группы</a:t>
            </a:r>
            <a:br>
              <a:rPr lang="ru-RU" dirty="0">
                <a:solidFill>
                  <a:srgbClr val="FFFFFF"/>
                </a:solidFill>
              </a:rPr>
            </a:br>
            <a:r>
              <a:rPr lang="ru-RU" dirty="0" err="1">
                <a:solidFill>
                  <a:srgbClr val="FFFFFF"/>
                </a:solidFill>
              </a:rPr>
              <a:t>Леготиным</a:t>
            </a:r>
            <a:r>
              <a:rPr lang="ru-RU" dirty="0">
                <a:solidFill>
                  <a:srgbClr val="FFFFFF"/>
                </a:solidFill>
              </a:rPr>
              <a:t> Андреем</a:t>
            </a:r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84216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6A8DD5-A64E-191A-383A-F19AD5F57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ru-RU" sz="3600" dirty="0">
                <a:solidFill>
                  <a:schemeClr val="tx2"/>
                </a:solidFill>
              </a:rPr>
              <a:t>Введение</a:t>
            </a:r>
            <a:endParaRPr lang="de-DE" sz="3600" dirty="0">
              <a:solidFill>
                <a:schemeClr val="tx2"/>
              </a:solidFill>
            </a:endParaRPr>
          </a:p>
        </p:txBody>
      </p:sp>
      <p:pic>
        <p:nvPicPr>
          <p:cNvPr id="21" name="Graphic 6" descr="Вопросы">
            <a:extLst>
              <a:ext uri="{FF2B5EF4-FFF2-40B4-BE49-F238E27FC236}">
                <a16:creationId xmlns:a16="http://schemas.microsoft.com/office/drawing/2014/main" id="{4B46E2C8-88BC-4784-3067-CF18DB460F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A1C84BC6-87EA-6ADA-2343-F3016951C8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Проблемы аберрантного поведения занимают важное место в современной психологии и социологии. Под аберрантным поведением понимается отклонение от общепринятых социальных норм и ценностей. Такое поведение может проявляться в разнообразных формах и иметь различные причины, включая стресс, генетические особенности, социальное окружение и другие факторы.</a:t>
            </a:r>
            <a:endParaRPr lang="de-DE" sz="1800" dirty="0">
              <a:solidFill>
                <a:schemeClr val="tx2"/>
              </a:solidFill>
            </a:endParaRPr>
          </a:p>
        </p:txBody>
      </p:sp>
      <p:grpSp>
        <p:nvGrpSpPr>
          <p:cNvPr id="22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23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90371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6735F6-E3EC-D016-5ACD-7504E9B52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ru-RU" sz="4000"/>
              <a:t>Психоанализ</a:t>
            </a:r>
            <a:endParaRPr lang="de-DE" sz="400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DD9AAA-44AB-9A4E-D36F-0801814879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Психоанализ является одним из направлений психологии, которое было создано Зигмундом Фрейдом. Фрейд разработал свою теорию психоанализа в конце 19 века. Он считал, что все наши действия и мысли определяются нашими бессознательными желаниями и страхами. Фрейд также утверждал, что мы можем понять наши скрытые желания и страхи, анализируя наши сны, фантазии и ошибки.</a:t>
            </a:r>
            <a:endParaRPr lang="de-DE" sz="20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6632C91-3FCE-F4AE-93F2-B15227665E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7" r="17845" b="-2"/>
          <a:stretch/>
        </p:blipFill>
        <p:spPr bwMode="auto">
          <a:xfrm>
            <a:off x="6857797" y="-10886"/>
            <a:ext cx="5334204" cy="6868886"/>
          </a:xfrm>
          <a:prstGeom prst="rect">
            <a:avLst/>
          </a:prstGeom>
          <a:noFill/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2382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Slide Background">
            <a:extLst>
              <a:ext uri="{FF2B5EF4-FFF2-40B4-BE49-F238E27FC236}">
                <a16:creationId xmlns:a16="http://schemas.microsoft.com/office/drawing/2014/main" id="{B098FE6D-7262-4839-92B0-81ABB08819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1C6259D-1B74-3C83-0A06-9DFBC5BF06E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14"/>
          <a:stretch/>
        </p:blipFill>
        <p:spPr bwMode="auto">
          <a:xfrm>
            <a:off x="20" y="10"/>
            <a:ext cx="12191979" cy="6857988"/>
          </a:xfrm>
          <a:prstGeom prst="rect">
            <a:avLst/>
          </a:prstGeom>
          <a:noFill/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F489C2E0-4895-4B72-85EA-7EE9FAFFD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5486398"/>
            <a:ext cx="12192000" cy="1371599"/>
          </a:xfrm>
          <a:prstGeom prst="rect">
            <a:avLst/>
          </a:prstGeom>
          <a:ln>
            <a:noFill/>
          </a:ln>
          <a:effectLst>
            <a:outerShdw blurRad="190500" dist="38100" dir="16260000" sx="95000" sy="95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84C99D-D02D-F76B-E325-B9C41445F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58" y="5778816"/>
            <a:ext cx="7015496" cy="7867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Эрих Фромм</a:t>
            </a:r>
          </a:p>
        </p:txBody>
      </p:sp>
    </p:spTree>
    <p:extLst>
      <p:ext uri="{BB962C8B-B14F-4D97-AF65-F5344CB8AC3E}">
        <p14:creationId xmlns:p14="http://schemas.microsoft.com/office/powerpoint/2010/main" val="1118414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04" name="Rectangle 3103">
            <a:extLst>
              <a:ext uri="{FF2B5EF4-FFF2-40B4-BE49-F238E27FC236}">
                <a16:creationId xmlns:a16="http://schemas.microsoft.com/office/drawing/2014/main" id="{593B4D24-F4A8-4141-A20A-E0575D199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Meiryo"/>
            </a:endParaRPr>
          </a:p>
        </p:txBody>
      </p:sp>
      <p:sp>
        <p:nvSpPr>
          <p:cNvPr id="3106" name="Freeform: Shape 3105">
            <a:extLst>
              <a:ext uri="{FF2B5EF4-FFF2-40B4-BE49-F238E27FC236}">
                <a16:creationId xmlns:a16="http://schemas.microsoft.com/office/drawing/2014/main" id="{6D29C94F-5927-45DF-8984-3D8402CB3D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3184" y="699990"/>
            <a:ext cx="3022088" cy="2778522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chemeClr val="bg1">
              <a:alpha val="3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108" name="Freeform: Shape 3107">
            <a:extLst>
              <a:ext uri="{FF2B5EF4-FFF2-40B4-BE49-F238E27FC236}">
                <a16:creationId xmlns:a16="http://schemas.microsoft.com/office/drawing/2014/main" id="{6F4F5563-BEC8-4A69-A657-AC9457F33C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3161" y="621282"/>
            <a:ext cx="3172430" cy="2960086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110" name="Freeform: Shape 3109">
            <a:extLst>
              <a:ext uri="{FF2B5EF4-FFF2-40B4-BE49-F238E27FC236}">
                <a16:creationId xmlns:a16="http://schemas.microsoft.com/office/drawing/2014/main" id="{CD45A2DC-2F6D-4746-B816-E638849B0D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4645419" y="664866"/>
            <a:ext cx="2942196" cy="2775350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chemeClr val="bg1">
              <a:alpha val="30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112" name="Freeform: Shape 3111">
            <a:extLst>
              <a:ext uri="{FF2B5EF4-FFF2-40B4-BE49-F238E27FC236}">
                <a16:creationId xmlns:a16="http://schemas.microsoft.com/office/drawing/2014/main" id="{10D1245A-B861-4943-B538-8696E6C77C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4509785" y="572497"/>
            <a:ext cx="3172430" cy="2960086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114" name="Freeform: Shape 3113">
            <a:extLst>
              <a:ext uri="{FF2B5EF4-FFF2-40B4-BE49-F238E27FC236}">
                <a16:creationId xmlns:a16="http://schemas.microsoft.com/office/drawing/2014/main" id="{C03D20A8-4350-41F8-BED8-9E2FA91DF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35425" y="741164"/>
            <a:ext cx="2943390" cy="2696506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chemeClr val="bg1">
              <a:alpha val="3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116" name="Freeform: Shape 3115">
            <a:extLst>
              <a:ext uri="{FF2B5EF4-FFF2-40B4-BE49-F238E27FC236}">
                <a16:creationId xmlns:a16="http://schemas.microsoft.com/office/drawing/2014/main" id="{DEB58610-1B82-4AC6-AD98-3834A9F09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86411" y="621282"/>
            <a:ext cx="3172430" cy="2960086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AC27BE-591A-8EB1-EFA6-66F4E0280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1325" y="5411679"/>
            <a:ext cx="8769350" cy="873824"/>
          </a:xfrm>
        </p:spPr>
        <p:txBody>
          <a:bodyPr anchor="b">
            <a:normAutofit/>
          </a:bodyPr>
          <a:lstStyle/>
          <a:p>
            <a:pPr algn="ctr"/>
            <a:r>
              <a:rPr lang="ru-RU" sz="3600" dirty="0"/>
              <a:t>Основные труды Фромма</a:t>
            </a:r>
            <a:endParaRPr lang="de-DE" sz="3600" dirty="0"/>
          </a:p>
        </p:txBody>
      </p:sp>
      <p:pic>
        <p:nvPicPr>
          <p:cNvPr id="3074" name="Picture 2" descr="Изображение выглядит как текст, плакат, книга, Книжная обложка&#10;&#10;Автоматически созданное описание">
            <a:extLst>
              <a:ext uri="{FF2B5EF4-FFF2-40B4-BE49-F238E27FC236}">
                <a16:creationId xmlns:a16="http://schemas.microsoft.com/office/drawing/2014/main" id="{626E540D-547A-9397-678A-C7395D8311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62803" y="572775"/>
            <a:ext cx="1940541" cy="3008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Изображение выглядит как текст, плакат, книга, Рекламный проспект&#10;&#10;Автоматически созданное описание">
            <a:extLst>
              <a:ext uri="{FF2B5EF4-FFF2-40B4-BE49-F238E27FC236}">
                <a16:creationId xmlns:a16="http://schemas.microsoft.com/office/drawing/2014/main" id="{B0241A70-5AD1-1080-7A3F-EE0C0A10F0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44786" y="572775"/>
            <a:ext cx="1925499" cy="3008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 descr="Изображение выглядит как текст, птица, книга, плакат&#10;&#10;Автоматически созданное описание">
            <a:extLst>
              <a:ext uri="{FF2B5EF4-FFF2-40B4-BE49-F238E27FC236}">
                <a16:creationId xmlns:a16="http://schemas.microsoft.com/office/drawing/2014/main" id="{33FEB80C-D3BB-951C-AC1A-4827B3519C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1245" y="572775"/>
            <a:ext cx="1957955" cy="2889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786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E95A20-C141-A447-DEFC-45D98FEA3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ru-RU" sz="3600">
                <a:solidFill>
                  <a:schemeClr val="tx2"/>
                </a:solidFill>
              </a:rPr>
              <a:t>Идеи Фромма</a:t>
            </a:r>
            <a:endParaRPr lang="de-DE" sz="3600">
              <a:solidFill>
                <a:schemeClr val="tx2"/>
              </a:solidFill>
            </a:endParaRPr>
          </a:p>
        </p:txBody>
      </p:sp>
      <p:pic>
        <p:nvPicPr>
          <p:cNvPr id="7" name="Graphic 6" descr="Вопросы">
            <a:extLst>
              <a:ext uri="{FF2B5EF4-FFF2-40B4-BE49-F238E27FC236}">
                <a16:creationId xmlns:a16="http://schemas.microsoft.com/office/drawing/2014/main" id="{F0DAF55B-3206-2A40-6E1A-B074632B59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B2836F4C-7892-0D04-7F7E-DDEE8A204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ru-RU" sz="1700">
                <a:solidFill>
                  <a:schemeClr val="tx2"/>
                </a:solidFill>
              </a:rPr>
              <a:t>Главной идеей Фромма является его теория личности. </a:t>
            </a:r>
            <a:r>
              <a:rPr lang="ru-RU" sz="1700" b="0" i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Основу этой теории составляют представления о социальном характере как совокупности социокультурных установок и общих норм, существующих в конкретном обществе, которые, как правило, не осознаются индивидами, но тем не менее детерминируют их поведение в социальной жизни.</a:t>
            </a:r>
            <a:endParaRPr lang="ru-RU" sz="17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ru-RU" sz="1700">
                <a:solidFill>
                  <a:schemeClr val="tx2"/>
                </a:solidFill>
              </a:rPr>
              <a:t>В этой теории он предлагает:</a:t>
            </a:r>
          </a:p>
          <a:p>
            <a:r>
              <a:rPr lang="ru-RU" sz="1700">
                <a:solidFill>
                  <a:schemeClr val="tx2"/>
                </a:solidFill>
              </a:rPr>
              <a:t>3 стратегии бегства от свободы</a:t>
            </a:r>
          </a:p>
          <a:p>
            <a:r>
              <a:rPr lang="ru-RU" sz="1700">
                <a:solidFill>
                  <a:schemeClr val="tx2"/>
                </a:solidFill>
              </a:rPr>
              <a:t>5 основных </a:t>
            </a:r>
            <a:r>
              <a:rPr lang="ru-RU" sz="1700">
                <a:solidFill>
                  <a:schemeClr val="tx2"/>
                </a:solidFill>
                <a:latin typeface="Linux Libertine"/>
              </a:rPr>
              <a:t>э</a:t>
            </a:r>
            <a:r>
              <a:rPr lang="ru-RU" sz="1700" b="0" i="0">
                <a:solidFill>
                  <a:schemeClr val="tx2"/>
                </a:solidFill>
                <a:effectLst/>
                <a:latin typeface="Linux Libertine"/>
              </a:rPr>
              <a:t>кзистенциальные потребностей</a:t>
            </a:r>
          </a:p>
          <a:p>
            <a:r>
              <a:rPr lang="ru-RU" sz="1700">
                <a:solidFill>
                  <a:schemeClr val="tx2"/>
                </a:solidFill>
                <a:latin typeface="Linux Libertine"/>
              </a:rPr>
              <a:t>5 типов социального характера</a:t>
            </a:r>
          </a:p>
          <a:p>
            <a:pPr marL="0" indent="0">
              <a:buNone/>
            </a:pPr>
            <a:endParaRPr lang="ru-RU" sz="1700" b="0" i="0">
              <a:solidFill>
                <a:schemeClr val="tx2"/>
              </a:solidFill>
              <a:effectLst/>
              <a:latin typeface="Linux Libertine"/>
            </a:endParaRPr>
          </a:p>
          <a:p>
            <a:endParaRPr lang="de-DE" sz="17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90414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F09035-FFA6-E7BF-47C4-40346A9DD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Аберрации человеческого поведения</a:t>
            </a:r>
            <a:endParaRPr lang="de-DE" dirty="0"/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1D01C5EB-6C9E-902C-50B1-6B940E79CA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0958" y="3429000"/>
            <a:ext cx="3551464" cy="2851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C7269BD8-FD4F-569F-C185-BC8457A038B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29000"/>
            <a:ext cx="4219580" cy="2839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>
            <a:extLst>
              <a:ext uri="{FF2B5EF4-FFF2-40B4-BE49-F238E27FC236}">
                <a16:creationId xmlns:a16="http://schemas.microsoft.com/office/drawing/2014/main" id="{CACF7165-CCA4-F3CF-D2A0-8CE6AACD8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800" y="3429000"/>
            <a:ext cx="3786370" cy="2839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B6EC81-014F-1023-69D8-B3A5ED7D36E9}"/>
              </a:ext>
            </a:extLst>
          </p:cNvPr>
          <p:cNvSpPr txBox="1"/>
          <p:nvPr/>
        </p:nvSpPr>
        <p:spPr>
          <a:xfrm>
            <a:off x="894127" y="1243198"/>
            <a:ext cx="928731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</a:rPr>
              <a:t>Аберрация — это состояние, когда человек уходит от разумного мышления и здравого поведения. Это отклонение от общепринятых норм, стандартов, принципов и правил поведения. </a:t>
            </a:r>
          </a:p>
          <a:p>
            <a:r>
              <a:rPr lang="ru-RU" dirty="0">
                <a:latin typeface="Times New Roman" panose="02020603050405020304" pitchFamily="18" charset="0"/>
              </a:rPr>
              <a:t>У аберраций множество причин, как социальных, так биологических. Также много у такого поведения и последствий, в основном негативных для самого индивида и общества.</a:t>
            </a:r>
          </a:p>
          <a:p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Существуют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определенные аберрантные модели поведения, такие как агрессивность, эгоистичность и отчужденность.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1493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3FCFAD-9CC9-1D40-64E4-257E711860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b="6250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6A380F-4E1A-F974-3021-C42BA828DA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1954"/>
            <a:ext cx="9144000" cy="1098395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</a:rPr>
              <a:t>Заключение</a:t>
            </a:r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DE181B9-F3D1-C464-778B-FF14278B35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pPr hangingPunct="0"/>
            <a:r>
              <a:rPr lang="ru-RU" dirty="0">
                <a:solidFill>
                  <a:srgbClr val="FFFFFF"/>
                </a:solidFill>
              </a:rPr>
              <a:t>Аберрации человеческого поведения представляют угрозу как для самого человека, так и для общества в целом. Знание причин данного поведения позволяет понять таких людей и помочь им.</a:t>
            </a:r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6125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310</Words>
  <Application>Microsoft Office PowerPoint</Application>
  <PresentationFormat>Широкоэкранный</PresentationFormat>
  <Paragraphs>20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Meiryo</vt:lpstr>
      <vt:lpstr>Arial</vt:lpstr>
      <vt:lpstr>Calibri</vt:lpstr>
      <vt:lpstr>Calibri Light</vt:lpstr>
      <vt:lpstr>Linux Libertine</vt:lpstr>
      <vt:lpstr>Times New Roman</vt:lpstr>
      <vt:lpstr>Тема Office</vt:lpstr>
      <vt:lpstr>«ГУМАНИСТИЧЕСКИЙ ПСИХОАНАЛИЗ» Э.ФРОММА ОБ АБЕРРАЦИЯХ ЧЕЛОВЕЧЕСКОГО ПОВЕДЕНИЯ.</vt:lpstr>
      <vt:lpstr>Введение</vt:lpstr>
      <vt:lpstr>Психоанализ</vt:lpstr>
      <vt:lpstr>Эрих Фромм</vt:lpstr>
      <vt:lpstr>Основные труды Фромма</vt:lpstr>
      <vt:lpstr>Идеи Фромма</vt:lpstr>
      <vt:lpstr>Аберрации человеческого поведения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«ГУМАНИСТИЧЕСКИЙ ПСИХОАНАЛИЗ» Э.ФРОММА ОБ АБЕРРАЦИЯХ ЧЕЛОВЕЧЕСКОГО ПОВЕДЕНИЯ.</dc:title>
  <dc:creator>Леготин Андрей Александрович</dc:creator>
  <cp:lastModifiedBy>Леготин Андрей Александрович</cp:lastModifiedBy>
  <cp:revision>6</cp:revision>
  <dcterms:created xsi:type="dcterms:W3CDTF">2023-11-28T17:06:09Z</dcterms:created>
  <dcterms:modified xsi:type="dcterms:W3CDTF">2023-11-28T19:14:34Z</dcterms:modified>
</cp:coreProperties>
</file>